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notesSlides/notesSlide3.xml" ContentType="application/vnd.openxmlformats-officedocument.presentationml.notesSlide+xml"/>
  <Override PartName="/ppt/charts/chart2.xml" ContentType="application/vnd.openxmlformats-officedocument.drawingml.chart+xml"/>
  <Override PartName="/ppt/notesSlides/notesSlide4.xml" ContentType="application/vnd.openxmlformats-officedocument.presentationml.notesSlide+xml"/>
  <Override PartName="/ppt/charts/chart3.xml" ContentType="application/vnd.openxmlformats-officedocument.drawingml.chart+xml"/>
  <Override PartName="/ppt/notesSlides/notesSlide5.xml" ContentType="application/vnd.openxmlformats-officedocument.presentationml.notesSlide+xml"/>
  <Override PartName="/ppt/charts/chart4.xml" ContentType="application/vnd.openxmlformats-officedocument.drawingml.chart+xml"/>
  <Override PartName="/ppt/notesSlides/notesSlide6.xml" ContentType="application/vnd.openxmlformats-officedocument.presentationml.notesSlide+xml"/>
  <Override PartName="/ppt/charts/chart5.xml" ContentType="application/vnd.openxmlformats-officedocument.drawingml.chart+xml"/>
  <Override PartName="/ppt/notesSlides/notesSlide7.xml" ContentType="application/vnd.openxmlformats-officedocument.presentationml.notesSlide+xml"/>
  <Override PartName="/ppt/charts/chart6.xml" ContentType="application/vnd.openxmlformats-officedocument.drawingml.chart+xml"/>
  <Override PartName="/ppt/notesSlides/notesSlide8.xml" ContentType="application/vnd.openxmlformats-officedocument.presentationml.notesSlide+xml"/>
  <Override PartName="/ppt/charts/chart7.xml" ContentType="application/vnd.openxmlformats-officedocument.drawingml.chart+xml"/>
  <Override PartName="/ppt/notesSlides/notesSlide9.xml" ContentType="application/vnd.openxmlformats-officedocument.presentationml.notesSlide+xml"/>
  <Override PartName="/ppt/charts/chart8.xml" ContentType="application/vnd.openxmlformats-officedocument.drawingml.chart+xml"/>
  <Override PartName="/ppt/notesSlides/notesSlide10.xml" ContentType="application/vnd.openxmlformats-officedocument.presentationml.notesSlide+xml"/>
  <Override PartName="/ppt/charts/chart9.xml" ContentType="application/vnd.openxmlformats-officedocument.drawingml.chart+xml"/>
  <Override PartName="/ppt/notesSlides/notesSlide11.xml" ContentType="application/vnd.openxmlformats-officedocument.presentationml.notesSlide+xml"/>
  <Override PartName="/ppt/charts/chart10.xml" ContentType="application/vnd.openxmlformats-officedocument.drawingml.chart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4" d="100"/>
          <a:sy n="124" d="100"/>
        </p:scale>
        <p:origin x="72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F1F1F"/>
                </a:solidFill>
                <a:latin typeface="Arial"/>
              </a:defRPr>
            </a:pPr>
            <a:r>
              <a:rPr lang="en-IN" sz="1200" b="0" i="0" u="none" strike="noStrike">
                <a:solidFill>
                  <a:srgbClr val="1F1F1F"/>
                </a:solidFill>
                <a:latin typeface="Arial"/>
              </a:rPr>
              <a:t>Monthly GMV (₹ Cr, delivered orders)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Monthly GMV (₹ Cr, delivered orders)</c:v>
                </c:pt>
              </c:strCache>
            </c:strRef>
          </c:tx>
          <c:spPr>
            <a:ln w="38100" cap="flat">
              <a:solidFill>
                <a:srgbClr val="0C831F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Sheet1!$A$2:$A$54</c:f>
              <c:strCache>
                <c:ptCount val="53"/>
                <c:pt idx="0">
                  <c:v>Jan-22</c:v>
                </c:pt>
                <c:pt idx="1">
                  <c:v>Feb-22</c:v>
                </c:pt>
                <c:pt idx="2">
                  <c:v>Mar-22</c:v>
                </c:pt>
                <c:pt idx="3">
                  <c:v>Apr-22</c:v>
                </c:pt>
                <c:pt idx="4">
                  <c:v>May-22</c:v>
                </c:pt>
                <c:pt idx="5">
                  <c:v>Jun-22</c:v>
                </c:pt>
                <c:pt idx="6">
                  <c:v>Jul-22</c:v>
                </c:pt>
                <c:pt idx="7">
                  <c:v>Aug-22</c:v>
                </c:pt>
                <c:pt idx="8">
                  <c:v>Sep-22</c:v>
                </c:pt>
                <c:pt idx="9">
                  <c:v>Oct-22</c:v>
                </c:pt>
                <c:pt idx="10">
                  <c:v>Nov-22</c:v>
                </c:pt>
                <c:pt idx="11">
                  <c:v>Dec-22</c:v>
                </c:pt>
                <c:pt idx="12">
                  <c:v>Jan-23</c:v>
                </c:pt>
                <c:pt idx="13">
                  <c:v>Feb-23</c:v>
                </c:pt>
                <c:pt idx="14">
                  <c:v>Mar-23</c:v>
                </c:pt>
                <c:pt idx="15">
                  <c:v>Apr-23</c:v>
                </c:pt>
                <c:pt idx="16">
                  <c:v>May-23</c:v>
                </c:pt>
                <c:pt idx="17">
                  <c:v>Jun-23</c:v>
                </c:pt>
                <c:pt idx="18">
                  <c:v>Jul-23</c:v>
                </c:pt>
                <c:pt idx="19">
                  <c:v>Aug-23</c:v>
                </c:pt>
                <c:pt idx="20">
                  <c:v>Sep-23</c:v>
                </c:pt>
                <c:pt idx="21">
                  <c:v>Oct-23</c:v>
                </c:pt>
                <c:pt idx="22">
                  <c:v>Nov-23</c:v>
                </c:pt>
                <c:pt idx="23">
                  <c:v>Dec-23</c:v>
                </c:pt>
                <c:pt idx="24">
                  <c:v>Jan-24</c:v>
                </c:pt>
                <c:pt idx="25">
                  <c:v>Feb-24</c:v>
                </c:pt>
                <c:pt idx="26">
                  <c:v>Mar-24</c:v>
                </c:pt>
                <c:pt idx="27">
                  <c:v>Apr-24</c:v>
                </c:pt>
                <c:pt idx="28">
                  <c:v>May-24</c:v>
                </c:pt>
                <c:pt idx="29">
                  <c:v>Jun-24</c:v>
                </c:pt>
                <c:pt idx="30">
                  <c:v>Jul-24</c:v>
                </c:pt>
                <c:pt idx="31">
                  <c:v>Aug-24</c:v>
                </c:pt>
                <c:pt idx="32">
                  <c:v>Sep-24</c:v>
                </c:pt>
                <c:pt idx="33">
                  <c:v>Oct-24</c:v>
                </c:pt>
                <c:pt idx="34">
                  <c:v>Nov-24</c:v>
                </c:pt>
                <c:pt idx="35">
                  <c:v>Dec-24</c:v>
                </c:pt>
                <c:pt idx="36">
                  <c:v>Jan-25</c:v>
                </c:pt>
                <c:pt idx="37">
                  <c:v>Feb-25</c:v>
                </c:pt>
                <c:pt idx="38">
                  <c:v>Mar-25</c:v>
                </c:pt>
                <c:pt idx="39">
                  <c:v>Apr-25</c:v>
                </c:pt>
                <c:pt idx="40">
                  <c:v>May-25</c:v>
                </c:pt>
                <c:pt idx="41">
                  <c:v>Jun-25</c:v>
                </c:pt>
                <c:pt idx="42">
                  <c:v>Jul-25</c:v>
                </c:pt>
                <c:pt idx="43">
                  <c:v>Aug-25</c:v>
                </c:pt>
                <c:pt idx="44">
                  <c:v>Sep-25</c:v>
                </c:pt>
                <c:pt idx="45">
                  <c:v>Oct-25</c:v>
                </c:pt>
                <c:pt idx="46">
                  <c:v>Nov-25</c:v>
                </c:pt>
                <c:pt idx="47">
                  <c:v>Dec-25</c:v>
                </c:pt>
                <c:pt idx="48">
                  <c:v>Jan-26</c:v>
                </c:pt>
                <c:pt idx="49">
                  <c:v>Feb-26</c:v>
                </c:pt>
                <c:pt idx="50">
                  <c:v>Mar-26</c:v>
                </c:pt>
                <c:pt idx="51">
                  <c:v>Apr-26</c:v>
                </c:pt>
                <c:pt idx="52">
                  <c:v>May-26</c:v>
                </c:pt>
              </c:strCache>
            </c:strRef>
          </c:cat>
          <c:val>
            <c:numRef>
              <c:f>Sheet1!$B$2:$B$54</c:f>
              <c:numCache>
                <c:formatCode>General</c:formatCode>
                <c:ptCount val="53"/>
                <c:pt idx="0">
                  <c:v>2.21</c:v>
                </c:pt>
                <c:pt idx="1">
                  <c:v>2.1</c:v>
                </c:pt>
                <c:pt idx="2">
                  <c:v>2.4</c:v>
                </c:pt>
                <c:pt idx="3">
                  <c:v>2.5299999999999998</c:v>
                </c:pt>
                <c:pt idx="4">
                  <c:v>2.62</c:v>
                </c:pt>
                <c:pt idx="5">
                  <c:v>2.7</c:v>
                </c:pt>
                <c:pt idx="6">
                  <c:v>2.31</c:v>
                </c:pt>
                <c:pt idx="7">
                  <c:v>2.4300000000000002</c:v>
                </c:pt>
                <c:pt idx="8">
                  <c:v>2.5299999999999998</c:v>
                </c:pt>
                <c:pt idx="9">
                  <c:v>2.85</c:v>
                </c:pt>
                <c:pt idx="10">
                  <c:v>3.03</c:v>
                </c:pt>
                <c:pt idx="11">
                  <c:v>3.15</c:v>
                </c:pt>
                <c:pt idx="12">
                  <c:v>3.29</c:v>
                </c:pt>
                <c:pt idx="13">
                  <c:v>3.11</c:v>
                </c:pt>
                <c:pt idx="14">
                  <c:v>3.89</c:v>
                </c:pt>
                <c:pt idx="15">
                  <c:v>3.96</c:v>
                </c:pt>
                <c:pt idx="16">
                  <c:v>3.78</c:v>
                </c:pt>
                <c:pt idx="17">
                  <c:v>3.86</c:v>
                </c:pt>
                <c:pt idx="18">
                  <c:v>3.49</c:v>
                </c:pt>
                <c:pt idx="19">
                  <c:v>3.61</c:v>
                </c:pt>
                <c:pt idx="20">
                  <c:v>3.81</c:v>
                </c:pt>
                <c:pt idx="21">
                  <c:v>4.32</c:v>
                </c:pt>
                <c:pt idx="22">
                  <c:v>4.62</c:v>
                </c:pt>
                <c:pt idx="23">
                  <c:v>4.12</c:v>
                </c:pt>
                <c:pt idx="24">
                  <c:v>5.1100000000000003</c:v>
                </c:pt>
                <c:pt idx="25">
                  <c:v>4.71</c:v>
                </c:pt>
                <c:pt idx="26">
                  <c:v>5.37</c:v>
                </c:pt>
                <c:pt idx="27">
                  <c:v>5.93</c:v>
                </c:pt>
                <c:pt idx="28">
                  <c:v>5.76</c:v>
                </c:pt>
                <c:pt idx="29">
                  <c:v>5.35</c:v>
                </c:pt>
                <c:pt idx="30">
                  <c:v>4.97</c:v>
                </c:pt>
                <c:pt idx="31">
                  <c:v>5.32</c:v>
                </c:pt>
                <c:pt idx="32">
                  <c:v>5.51</c:v>
                </c:pt>
                <c:pt idx="33">
                  <c:v>6.28</c:v>
                </c:pt>
                <c:pt idx="34">
                  <c:v>6.69</c:v>
                </c:pt>
                <c:pt idx="35">
                  <c:v>4.43</c:v>
                </c:pt>
                <c:pt idx="36">
                  <c:v>12.38</c:v>
                </c:pt>
                <c:pt idx="37">
                  <c:v>11.34</c:v>
                </c:pt>
                <c:pt idx="38">
                  <c:v>13.33</c:v>
                </c:pt>
                <c:pt idx="39">
                  <c:v>13.96</c:v>
                </c:pt>
                <c:pt idx="40">
                  <c:v>13.24</c:v>
                </c:pt>
                <c:pt idx="41">
                  <c:v>12.92</c:v>
                </c:pt>
                <c:pt idx="42">
                  <c:v>11.9</c:v>
                </c:pt>
                <c:pt idx="43">
                  <c:v>12.63</c:v>
                </c:pt>
                <c:pt idx="44">
                  <c:v>12.93</c:v>
                </c:pt>
                <c:pt idx="45">
                  <c:v>14.78</c:v>
                </c:pt>
                <c:pt idx="46">
                  <c:v>16.350000000000001</c:v>
                </c:pt>
                <c:pt idx="47">
                  <c:v>5.27</c:v>
                </c:pt>
                <c:pt idx="48">
                  <c:v>14.64</c:v>
                </c:pt>
                <c:pt idx="49">
                  <c:v>13.74</c:v>
                </c:pt>
                <c:pt idx="50">
                  <c:v>17.18</c:v>
                </c:pt>
                <c:pt idx="51">
                  <c:v>18.71</c:v>
                </c:pt>
                <c:pt idx="52">
                  <c:v>17.7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0188-4A56-8715-81C13D25778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6B6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tickLblSkip val="6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3E3E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6B6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F1F1F"/>
                </a:solidFill>
                <a:latin typeface="Arial"/>
              </a:defRPr>
            </a:pPr>
            <a:r>
              <a:rPr lang="en-US" sz="1200" b="0" i="0" u="none" strike="noStrike">
                <a:solidFill>
                  <a:srgbClr val="1F1F1F"/>
                </a:solidFill>
                <a:latin typeface="Arial"/>
              </a:rPr>
              <a:t>Revenue lost by reason (₹ Cr, top 9)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lost by reason (₹ Cr, top 9)</c:v>
                </c:pt>
              </c:strCache>
            </c:strRef>
          </c:tx>
          <c:spPr>
            <a:solidFill>
              <a:srgbClr val="0C831F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9B8E-46CB-A6BC-3DBF8ED5AC40}"/>
              </c:ext>
            </c:extLst>
          </c:dPt>
          <c:dPt>
            <c:idx val="1"/>
            <c:invertIfNegative val="0"/>
            <c:bubble3D val="0"/>
            <c:spPr>
              <a:solidFill>
                <a:srgbClr val="F8CB4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9B8E-46CB-A6BC-3DBF8ED5AC40}"/>
              </c:ext>
            </c:extLst>
          </c:dPt>
          <c:dPt>
            <c:idx val="2"/>
            <c:invertIfNegative val="0"/>
            <c:bubble3D val="0"/>
            <c:spPr>
              <a:solidFill>
                <a:srgbClr val="F8CB4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9B8E-46CB-A6BC-3DBF8ED5AC40}"/>
              </c:ext>
            </c:extLst>
          </c:dPt>
          <c:dPt>
            <c:idx val="3"/>
            <c:invertIfNegative val="0"/>
            <c:bubble3D val="0"/>
            <c:spPr>
              <a:solidFill>
                <a:srgbClr val="F8CB4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9B8E-46CB-A6BC-3DBF8ED5AC40}"/>
              </c:ext>
            </c:extLst>
          </c:dPt>
          <c:dPt>
            <c:idx val="4"/>
            <c:invertIfNegative val="0"/>
            <c:bubble3D val="0"/>
            <c:spPr>
              <a:solidFill>
                <a:srgbClr val="F8CB4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9B8E-46CB-A6BC-3DBF8ED5AC40}"/>
              </c:ext>
            </c:extLst>
          </c:dPt>
          <c:dPt>
            <c:idx val="5"/>
            <c:invertIfNegative val="0"/>
            <c:bubble3D val="0"/>
            <c:spPr>
              <a:solidFill>
                <a:srgbClr val="F8CB4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9B8E-46CB-A6BC-3DBF8ED5AC40}"/>
              </c:ext>
            </c:extLst>
          </c:dPt>
          <c:dPt>
            <c:idx val="6"/>
            <c:invertIfNegative val="0"/>
            <c:bubble3D val="0"/>
            <c:spPr>
              <a:solidFill>
                <a:srgbClr val="F8CB4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9B8E-46CB-A6BC-3DBF8ED5AC40}"/>
              </c:ext>
            </c:extLst>
          </c:dPt>
          <c:dPt>
            <c:idx val="7"/>
            <c:invertIfNegative val="0"/>
            <c:bubble3D val="0"/>
            <c:spPr>
              <a:solidFill>
                <a:srgbClr val="F8CB4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9B8E-46CB-A6BC-3DBF8ED5AC40}"/>
              </c:ext>
            </c:extLst>
          </c:dPt>
          <c:dPt>
            <c:idx val="8"/>
            <c:invertIfNegative val="0"/>
            <c:bubble3D val="0"/>
            <c:spPr>
              <a:solidFill>
                <a:srgbClr val="F8CB4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1-9B8E-46CB-A6BC-3DBF8ED5AC40}"/>
              </c:ext>
            </c:extLst>
          </c:dPt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F1F1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Sheet1!$A$2:$A$10</c:f>
              <c:strCache>
                <c:ptCount val="9"/>
                <c:pt idx="0">
                  <c:v>Partial delivery (no reason)</c:v>
                </c:pt>
                <c:pt idx="1">
                  <c:v>Late delivery</c:v>
                </c:pt>
                <c:pt idx="2">
                  <c:v>Item unavailable</c:v>
                </c:pt>
                <c:pt idx="3">
                  <c:v>Changed mind</c:v>
                </c:pt>
                <c:pt idx="4">
                  <c:v>Price issue</c:v>
                </c:pt>
                <c:pt idx="5">
                  <c:v>Wrong address</c:v>
                </c:pt>
                <c:pt idx="6">
                  <c:v>Duplicate order</c:v>
                </c:pt>
                <c:pt idx="7">
                  <c:v>Wrong item delivered</c:v>
                </c:pt>
                <c:pt idx="8">
                  <c:v>Expired product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5.21</c:v>
                </c:pt>
                <c:pt idx="1">
                  <c:v>0.88</c:v>
                </c:pt>
                <c:pt idx="2">
                  <c:v>0.88</c:v>
                </c:pt>
                <c:pt idx="3">
                  <c:v>0.88</c:v>
                </c:pt>
                <c:pt idx="4">
                  <c:v>0.88</c:v>
                </c:pt>
                <c:pt idx="5">
                  <c:v>0.87</c:v>
                </c:pt>
                <c:pt idx="6">
                  <c:v>0.86</c:v>
                </c:pt>
                <c:pt idx="7">
                  <c:v>0.85</c:v>
                </c:pt>
                <c:pt idx="8">
                  <c:v>0.84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2-9B8E-46CB-A6BC-3DBF8ED5AC4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6B6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t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F1F1F"/>
                </a:solidFill>
                <a:latin typeface="Arial"/>
              </a:defRPr>
            </a:pPr>
            <a:r>
              <a:rPr lang="en-US" sz="1200" b="0" i="0" u="none" strike="noStrike">
                <a:solidFill>
                  <a:srgbClr val="1F1F1F"/>
                </a:solidFill>
                <a:latin typeface="Arial"/>
              </a:rPr>
              <a:t>Reorder rate by delivery time (%, axis starts at 60)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Reorder rate by delivery time (%, axis starts at 60)</c:v>
                </c:pt>
              </c:strCache>
            </c:strRef>
          </c:tx>
          <c:spPr>
            <a:solidFill>
              <a:srgbClr val="0C831F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F1F1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&lt;=10 min</c:v>
                </c:pt>
                <c:pt idx="1">
                  <c:v>11-15 min</c:v>
                </c:pt>
                <c:pt idx="2">
                  <c:v>16-20 min</c:v>
                </c:pt>
                <c:pt idx="3">
                  <c:v>21-30 min</c:v>
                </c:pt>
                <c:pt idx="4">
                  <c:v>30+ min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65.349999999999994</c:v>
                </c:pt>
                <c:pt idx="1">
                  <c:v>64.790000000000006</c:v>
                </c:pt>
                <c:pt idx="2">
                  <c:v>64.650000000000006</c:v>
                </c:pt>
                <c:pt idx="3">
                  <c:v>63.01</c:v>
                </c:pt>
                <c:pt idx="4">
                  <c:v>62.36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8F6-45E1-8576-2644AE6DAD3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6B6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67"/>
          <c:min val="6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F1F1F"/>
                </a:solidFill>
                <a:latin typeface="Arial"/>
              </a:defRPr>
            </a:pPr>
            <a:r>
              <a:rPr lang="en-US" sz="1200" b="0" i="0" u="none" strike="noStrike">
                <a:solidFill>
                  <a:srgbClr val="1F1F1F"/>
                </a:solidFill>
                <a:latin typeface="Arial"/>
              </a:rPr>
              <a:t>Orders in the top-30 day-hour slots, by hour (K)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Orders in the top-30 day-hour slots, by hour (K)</c:v>
                </c:pt>
              </c:strCache>
            </c:strRef>
          </c:tx>
          <c:spPr>
            <a:solidFill>
              <a:srgbClr val="F8CB46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E0A8-4DC4-8003-7FC5EEB52ADD}"/>
              </c:ext>
            </c:extLst>
          </c:dPt>
          <c:dPt>
            <c:idx val="1"/>
            <c:invertIfNegative val="0"/>
            <c:bubble3D val="0"/>
            <c:spPr>
              <a:solidFill>
                <a:srgbClr val="0C831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E0A8-4DC4-8003-7FC5EEB52ADD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E0A8-4DC4-8003-7FC5EEB52ADD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E0A8-4DC4-8003-7FC5EEB52ADD}"/>
              </c:ext>
            </c:extLst>
          </c:dPt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9-E0A8-4DC4-8003-7FC5EEB52ADD}"/>
              </c:ext>
            </c:extLst>
          </c:dPt>
          <c:dPt>
            <c:idx val="5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B-E0A8-4DC4-8003-7FC5EEB52ADD}"/>
              </c:ext>
            </c:extLst>
          </c:dPt>
          <c:dPt>
            <c:idx val="6"/>
            <c:invertIfNegative val="0"/>
            <c:bubble3D val="0"/>
            <c:spPr>
              <a:solidFill>
                <a:srgbClr val="0C831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E0A8-4DC4-8003-7FC5EEB52ADD}"/>
              </c:ext>
            </c:extLst>
          </c:dPt>
          <c:dPt>
            <c:idx val="7"/>
            <c:invertIfNegative val="0"/>
            <c:bubble3D val="0"/>
            <c:spPr>
              <a:solidFill>
                <a:srgbClr val="0C831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E0A8-4DC4-8003-7FC5EEB52ADD}"/>
              </c:ext>
            </c:extLst>
          </c:dPt>
          <c:dPt>
            <c:idx val="8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1-E0A8-4DC4-8003-7FC5EEB52ADD}"/>
              </c:ext>
            </c:extLst>
          </c:dPt>
          <c:dLbls>
            <c:numFmt formatCode="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F1F1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Sheet1!$A$2:$A$10</c:f>
              <c:strCache>
                <c:ptCount val="9"/>
                <c:pt idx="0">
                  <c:v>10 AM</c:v>
                </c:pt>
                <c:pt idx="1">
                  <c:v>11 AM</c:v>
                </c:pt>
                <c:pt idx="2">
                  <c:v>12 PM</c:v>
                </c:pt>
                <c:pt idx="3">
                  <c:v>1 PM</c:v>
                </c:pt>
                <c:pt idx="4">
                  <c:v>4 PM</c:v>
                </c:pt>
                <c:pt idx="5">
                  <c:v>5 PM</c:v>
                </c:pt>
                <c:pt idx="6">
                  <c:v>6 PM</c:v>
                </c:pt>
                <c:pt idx="7">
                  <c:v>7 PM</c:v>
                </c:pt>
                <c:pt idx="8">
                  <c:v>8 PM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139.80000000000001</c:v>
                </c:pt>
                <c:pt idx="1">
                  <c:v>234.4</c:v>
                </c:pt>
                <c:pt idx="2">
                  <c:v>129.6</c:v>
                </c:pt>
                <c:pt idx="3">
                  <c:v>37.299999999999997</c:v>
                </c:pt>
                <c:pt idx="4">
                  <c:v>122.6</c:v>
                </c:pt>
                <c:pt idx="5">
                  <c:v>148.80000000000001</c:v>
                </c:pt>
                <c:pt idx="6">
                  <c:v>234.4</c:v>
                </c:pt>
                <c:pt idx="7">
                  <c:v>197.5</c:v>
                </c:pt>
                <c:pt idx="8">
                  <c:v>130.30000000000001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2-E0A8-4DC4-8003-7FC5EEB52AD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6B6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F1F1F"/>
                </a:solidFill>
                <a:latin typeface="Arial"/>
              </a:defRPr>
            </a:pPr>
            <a:r>
              <a:rPr lang="en-US" sz="1200" b="0" i="0" u="none" strike="noStrike">
                <a:solidFill>
                  <a:srgbClr val="1F1F1F"/>
                </a:solidFill>
                <a:latin typeface="Arial"/>
              </a:rPr>
              <a:t>GMV by city (₹ Cr, top 8)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GMV by city (₹ Cr, top 8)</c:v>
                </c:pt>
              </c:strCache>
            </c:strRef>
          </c:tx>
          <c:spPr>
            <a:solidFill>
              <a:srgbClr val="0C831F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8D63-49B2-B0E5-277CD74B5FA0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8D63-49B2-B0E5-277CD74B5FA0}"/>
              </c:ext>
            </c:extLst>
          </c:dPt>
          <c:dPt>
            <c:idx val="2"/>
            <c:invertIfNegative val="0"/>
            <c:bubble3D val="0"/>
            <c:spPr>
              <a:solidFill>
                <a:srgbClr val="F8CB4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8D63-49B2-B0E5-277CD74B5FA0}"/>
              </c:ext>
            </c:extLst>
          </c:dPt>
          <c:dPt>
            <c:idx val="3"/>
            <c:invertIfNegative val="0"/>
            <c:bubble3D val="0"/>
            <c:spPr>
              <a:solidFill>
                <a:srgbClr val="F8CB4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8D63-49B2-B0E5-277CD74B5FA0}"/>
              </c:ext>
            </c:extLst>
          </c:dPt>
          <c:dPt>
            <c:idx val="4"/>
            <c:invertIfNegative val="0"/>
            <c:bubble3D val="0"/>
            <c:spPr>
              <a:solidFill>
                <a:srgbClr val="F8CB4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8D63-49B2-B0E5-277CD74B5FA0}"/>
              </c:ext>
            </c:extLst>
          </c:dPt>
          <c:dPt>
            <c:idx val="5"/>
            <c:invertIfNegative val="0"/>
            <c:bubble3D val="0"/>
            <c:spPr>
              <a:solidFill>
                <a:srgbClr val="F8CB4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8D63-49B2-B0E5-277CD74B5FA0}"/>
              </c:ext>
            </c:extLst>
          </c:dPt>
          <c:dPt>
            <c:idx val="6"/>
            <c:invertIfNegative val="0"/>
            <c:bubble3D val="0"/>
            <c:spPr>
              <a:solidFill>
                <a:srgbClr val="F8CB4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8D63-49B2-B0E5-277CD74B5FA0}"/>
              </c:ext>
            </c:extLst>
          </c:dPt>
          <c:dPt>
            <c:idx val="7"/>
            <c:invertIfNegative val="0"/>
            <c:bubble3D val="0"/>
            <c:spPr>
              <a:solidFill>
                <a:srgbClr val="F8CB4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8D63-49B2-B0E5-277CD74B5FA0}"/>
              </c:ext>
            </c:extLst>
          </c:dPt>
          <c:dLbls>
            <c:numFmt formatCode="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F1F1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Mumbai</c:v>
                </c:pt>
                <c:pt idx="1">
                  <c:v>Delhi</c:v>
                </c:pt>
                <c:pt idx="2">
                  <c:v>Bengaluru</c:v>
                </c:pt>
                <c:pt idx="3">
                  <c:v>Hyderabad</c:v>
                </c:pt>
                <c:pt idx="4">
                  <c:v>Pune</c:v>
                </c:pt>
                <c:pt idx="5">
                  <c:v>Chennai</c:v>
                </c:pt>
                <c:pt idx="6">
                  <c:v>Kolkata</c:v>
                </c:pt>
                <c:pt idx="7">
                  <c:v>Ahmedabad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68.5</c:v>
                </c:pt>
                <c:pt idx="1">
                  <c:v>64.7</c:v>
                </c:pt>
                <c:pt idx="2">
                  <c:v>52</c:v>
                </c:pt>
                <c:pt idx="3">
                  <c:v>32.5</c:v>
                </c:pt>
                <c:pt idx="4">
                  <c:v>28.7</c:v>
                </c:pt>
                <c:pt idx="5">
                  <c:v>24.8</c:v>
                </c:pt>
                <c:pt idx="6">
                  <c:v>21.1</c:v>
                </c:pt>
                <c:pt idx="7">
                  <c:v>17.899999999999999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0-8D63-49B2-B0E5-277CD74B5FA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6B6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t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F1F1F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F1F1F"/>
                </a:solidFill>
                <a:latin typeface="Arial"/>
              </a:rPr>
              <a:t>Discount given by code (₹ Cr, top 8)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Discount given by code (₹ Cr, top 8)</c:v>
                </c:pt>
              </c:strCache>
            </c:strRef>
          </c:tx>
          <c:spPr>
            <a:solidFill>
              <a:srgbClr val="0C831F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2AAE-43A3-B310-0D1463F334C8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2AAE-43A3-B310-0D1463F334C8}"/>
              </c:ext>
            </c:extLst>
          </c:dPt>
          <c:dPt>
            <c:idx val="2"/>
            <c:invertIfNegative val="0"/>
            <c:bubble3D val="0"/>
            <c:spPr>
              <a:solidFill>
                <a:srgbClr val="F8CB4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2AAE-43A3-B310-0D1463F334C8}"/>
              </c:ext>
            </c:extLst>
          </c:dPt>
          <c:dPt>
            <c:idx val="3"/>
            <c:invertIfNegative val="0"/>
            <c:bubble3D val="0"/>
            <c:spPr>
              <a:solidFill>
                <a:srgbClr val="F8CB4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2AAE-43A3-B310-0D1463F334C8}"/>
              </c:ext>
            </c:extLst>
          </c:dPt>
          <c:dPt>
            <c:idx val="4"/>
            <c:invertIfNegative val="0"/>
            <c:bubble3D val="0"/>
            <c:spPr>
              <a:solidFill>
                <a:srgbClr val="F8CB4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2AAE-43A3-B310-0D1463F334C8}"/>
              </c:ext>
            </c:extLst>
          </c:dPt>
          <c:dPt>
            <c:idx val="5"/>
            <c:invertIfNegative val="0"/>
            <c:bubble3D val="0"/>
            <c:spPr>
              <a:solidFill>
                <a:srgbClr val="F8CB4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2AAE-43A3-B310-0D1463F334C8}"/>
              </c:ext>
            </c:extLst>
          </c:dPt>
          <c:dPt>
            <c:idx val="6"/>
            <c:invertIfNegative val="0"/>
            <c:bubble3D val="0"/>
            <c:spPr>
              <a:solidFill>
                <a:srgbClr val="F8CB4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2AAE-43A3-B310-0D1463F334C8}"/>
              </c:ext>
            </c:extLst>
          </c:dPt>
          <c:dPt>
            <c:idx val="7"/>
            <c:invertIfNegative val="0"/>
            <c:bubble3D val="0"/>
            <c:spPr>
              <a:solidFill>
                <a:srgbClr val="F8CB4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2AAE-43A3-B310-0D1463F334C8}"/>
              </c:ext>
            </c:extLst>
          </c:dPt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F1F1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SAVE20</c:v>
                </c:pt>
                <c:pt idx="1">
                  <c:v>FESTIVE25</c:v>
                </c:pt>
                <c:pt idx="2">
                  <c:v>WEEKEND15</c:v>
                </c:pt>
                <c:pt idx="3">
                  <c:v>FLAT30</c:v>
                </c:pt>
                <c:pt idx="4">
                  <c:v>UPIOFF</c:v>
                </c:pt>
                <c:pt idx="5">
                  <c:v>BLINK10</c:v>
                </c:pt>
                <c:pt idx="6">
                  <c:v>DIWALI30</c:v>
                </c:pt>
                <c:pt idx="7">
                  <c:v>NEWUSER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4.3099999999999996</c:v>
                </c:pt>
                <c:pt idx="1">
                  <c:v>4.05</c:v>
                </c:pt>
                <c:pt idx="2">
                  <c:v>2.77</c:v>
                </c:pt>
                <c:pt idx="3">
                  <c:v>2.54</c:v>
                </c:pt>
                <c:pt idx="4">
                  <c:v>2.38</c:v>
                </c:pt>
                <c:pt idx="5">
                  <c:v>2.2999999999999998</c:v>
                </c:pt>
                <c:pt idx="6">
                  <c:v>2.21</c:v>
                </c:pt>
                <c:pt idx="7">
                  <c:v>2.21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0-2AAE-43A3-B310-0D1463F334C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6B6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t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F1F1F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F1F1F"/>
                </a:solidFill>
                <a:latin typeface="Arial"/>
              </a:rPr>
              <a:t>Revenue per customer by tier (₹)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per customer by tier (₹)</c:v>
                </c:pt>
              </c:strCache>
            </c:strRef>
          </c:tx>
          <c:spPr>
            <a:solidFill>
              <a:srgbClr val="B87333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7D15-4226-BE44-2EADC13E1FF4}"/>
              </c:ext>
            </c:extLst>
          </c:dPt>
          <c:dPt>
            <c:idx val="1"/>
            <c:invertIfNegative val="0"/>
            <c:bubble3D val="0"/>
            <c:spPr>
              <a:solidFill>
                <a:srgbClr val="9AA0A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7D15-4226-BE44-2EADC13E1FF4}"/>
              </c:ext>
            </c:extLst>
          </c:dPt>
          <c:dPt>
            <c:idx val="2"/>
            <c:invertIfNegative val="0"/>
            <c:bubble3D val="0"/>
            <c:spPr>
              <a:solidFill>
                <a:srgbClr val="F8CB4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7D15-4226-BE44-2EADC13E1FF4}"/>
              </c:ext>
            </c:extLst>
          </c:dPt>
          <c:dPt>
            <c:idx val="3"/>
            <c:invertIfNegative val="0"/>
            <c:bubble3D val="0"/>
            <c:spPr>
              <a:solidFill>
                <a:srgbClr val="0C831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7D15-4226-BE44-2EADC13E1FF4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F1F1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Bronze</c:v>
                </c:pt>
                <c:pt idx="1">
                  <c:v>Silver</c:v>
                </c:pt>
                <c:pt idx="2">
                  <c:v>Gold</c:v>
                </c:pt>
                <c:pt idx="3">
                  <c:v>Platinum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2633</c:v>
                </c:pt>
                <c:pt idx="1">
                  <c:v>2206</c:v>
                </c:pt>
                <c:pt idx="2">
                  <c:v>2001</c:v>
                </c:pt>
                <c:pt idx="3">
                  <c:v>1727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7D15-4226-BE44-2EADC13E1FF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6B6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F1F1F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F1F1F"/>
                </a:solidFill>
                <a:latin typeface="Arial"/>
              </a:rPr>
              <a:t>30-day repeat rate by sign-up month (%)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30-day repeat rate by sign-up month (%)</c:v>
                </c:pt>
              </c:strCache>
            </c:strRef>
          </c:tx>
          <c:spPr>
            <a:ln w="38100" cap="flat">
              <a:solidFill>
                <a:srgbClr val="0C831F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Sheet1!$A$2:$A$53</c:f>
              <c:strCache>
                <c:ptCount val="52"/>
                <c:pt idx="0">
                  <c:v>Jan-22</c:v>
                </c:pt>
                <c:pt idx="1">
                  <c:v>Feb-22</c:v>
                </c:pt>
                <c:pt idx="2">
                  <c:v>Mar-22</c:v>
                </c:pt>
                <c:pt idx="3">
                  <c:v>Apr-22</c:v>
                </c:pt>
                <c:pt idx="4">
                  <c:v>May-22</c:v>
                </c:pt>
                <c:pt idx="5">
                  <c:v>Jun-22</c:v>
                </c:pt>
                <c:pt idx="6">
                  <c:v>Jul-22</c:v>
                </c:pt>
                <c:pt idx="7">
                  <c:v>Aug-22</c:v>
                </c:pt>
                <c:pt idx="8">
                  <c:v>Sep-22</c:v>
                </c:pt>
                <c:pt idx="9">
                  <c:v>Oct-22</c:v>
                </c:pt>
                <c:pt idx="10">
                  <c:v>Nov-22</c:v>
                </c:pt>
                <c:pt idx="11">
                  <c:v>Dec-22</c:v>
                </c:pt>
                <c:pt idx="12">
                  <c:v>Jan-23</c:v>
                </c:pt>
                <c:pt idx="13">
                  <c:v>Feb-23</c:v>
                </c:pt>
                <c:pt idx="14">
                  <c:v>Mar-23</c:v>
                </c:pt>
                <c:pt idx="15">
                  <c:v>Apr-23</c:v>
                </c:pt>
                <c:pt idx="16">
                  <c:v>May-23</c:v>
                </c:pt>
                <c:pt idx="17">
                  <c:v>Jun-23</c:v>
                </c:pt>
                <c:pt idx="18">
                  <c:v>Jul-23</c:v>
                </c:pt>
                <c:pt idx="19">
                  <c:v>Aug-23</c:v>
                </c:pt>
                <c:pt idx="20">
                  <c:v>Sep-23</c:v>
                </c:pt>
                <c:pt idx="21">
                  <c:v>Oct-23</c:v>
                </c:pt>
                <c:pt idx="22">
                  <c:v>Nov-23</c:v>
                </c:pt>
                <c:pt idx="23">
                  <c:v>Dec-23</c:v>
                </c:pt>
                <c:pt idx="24">
                  <c:v>Jan-24</c:v>
                </c:pt>
                <c:pt idx="25">
                  <c:v>Feb-24</c:v>
                </c:pt>
                <c:pt idx="26">
                  <c:v>Mar-24</c:v>
                </c:pt>
                <c:pt idx="27">
                  <c:v>Apr-24</c:v>
                </c:pt>
                <c:pt idx="28">
                  <c:v>May-24</c:v>
                </c:pt>
                <c:pt idx="29">
                  <c:v>Jun-24</c:v>
                </c:pt>
                <c:pt idx="30">
                  <c:v>Jul-24</c:v>
                </c:pt>
                <c:pt idx="31">
                  <c:v>Aug-24</c:v>
                </c:pt>
                <c:pt idx="32">
                  <c:v>Sep-24</c:v>
                </c:pt>
                <c:pt idx="33">
                  <c:v>Oct-24</c:v>
                </c:pt>
                <c:pt idx="34">
                  <c:v>Nov-24</c:v>
                </c:pt>
                <c:pt idx="35">
                  <c:v>Dec-24</c:v>
                </c:pt>
                <c:pt idx="36">
                  <c:v>Jan-25</c:v>
                </c:pt>
                <c:pt idx="37">
                  <c:v>Feb-25</c:v>
                </c:pt>
                <c:pt idx="38">
                  <c:v>Mar-25</c:v>
                </c:pt>
                <c:pt idx="39">
                  <c:v>Apr-25</c:v>
                </c:pt>
                <c:pt idx="40">
                  <c:v>May-25</c:v>
                </c:pt>
                <c:pt idx="41">
                  <c:v>Jun-25</c:v>
                </c:pt>
                <c:pt idx="42">
                  <c:v>Jul-25</c:v>
                </c:pt>
                <c:pt idx="43">
                  <c:v>Aug-25</c:v>
                </c:pt>
                <c:pt idx="44">
                  <c:v>Sep-25</c:v>
                </c:pt>
                <c:pt idx="45">
                  <c:v>Oct-25</c:v>
                </c:pt>
                <c:pt idx="46">
                  <c:v>Nov-25</c:v>
                </c:pt>
                <c:pt idx="47">
                  <c:v>Dec-25</c:v>
                </c:pt>
                <c:pt idx="48">
                  <c:v>Jan-26</c:v>
                </c:pt>
                <c:pt idx="49">
                  <c:v>Feb-26</c:v>
                </c:pt>
                <c:pt idx="50">
                  <c:v>Mar-26</c:v>
                </c:pt>
                <c:pt idx="51">
                  <c:v>Apr-26</c:v>
                </c:pt>
              </c:strCache>
            </c:strRef>
          </c:cat>
          <c:val>
            <c:numRef>
              <c:f>Sheet1!$B$2:$B$53</c:f>
              <c:numCache>
                <c:formatCode>General</c:formatCode>
                <c:ptCount val="52"/>
                <c:pt idx="0">
                  <c:v>9.65</c:v>
                </c:pt>
                <c:pt idx="1">
                  <c:v>9.98</c:v>
                </c:pt>
                <c:pt idx="2">
                  <c:v>10.58</c:v>
                </c:pt>
                <c:pt idx="3">
                  <c:v>11.68</c:v>
                </c:pt>
                <c:pt idx="4">
                  <c:v>11.37</c:v>
                </c:pt>
                <c:pt idx="5">
                  <c:v>10.72</c:v>
                </c:pt>
                <c:pt idx="6">
                  <c:v>9.7799999999999994</c:v>
                </c:pt>
                <c:pt idx="7">
                  <c:v>10.68</c:v>
                </c:pt>
                <c:pt idx="8">
                  <c:v>11.48</c:v>
                </c:pt>
                <c:pt idx="9">
                  <c:v>13.08</c:v>
                </c:pt>
                <c:pt idx="10">
                  <c:v>12.77</c:v>
                </c:pt>
                <c:pt idx="11">
                  <c:v>11.18</c:v>
                </c:pt>
                <c:pt idx="12">
                  <c:v>9.7100000000000009</c:v>
                </c:pt>
                <c:pt idx="13">
                  <c:v>10.53</c:v>
                </c:pt>
                <c:pt idx="14">
                  <c:v>11.42</c:v>
                </c:pt>
                <c:pt idx="15">
                  <c:v>11.56</c:v>
                </c:pt>
                <c:pt idx="16">
                  <c:v>10.59</c:v>
                </c:pt>
                <c:pt idx="17">
                  <c:v>10.32</c:v>
                </c:pt>
                <c:pt idx="18">
                  <c:v>10.51</c:v>
                </c:pt>
                <c:pt idx="19">
                  <c:v>11.01</c:v>
                </c:pt>
                <c:pt idx="20">
                  <c:v>10.84</c:v>
                </c:pt>
                <c:pt idx="21">
                  <c:v>13.06</c:v>
                </c:pt>
                <c:pt idx="22">
                  <c:v>13.11</c:v>
                </c:pt>
                <c:pt idx="23">
                  <c:v>10.57</c:v>
                </c:pt>
                <c:pt idx="24">
                  <c:v>9.7200000000000006</c:v>
                </c:pt>
                <c:pt idx="25">
                  <c:v>10.09</c:v>
                </c:pt>
                <c:pt idx="26">
                  <c:v>10.83</c:v>
                </c:pt>
                <c:pt idx="27">
                  <c:v>11.73</c:v>
                </c:pt>
                <c:pt idx="28">
                  <c:v>10.86</c:v>
                </c:pt>
                <c:pt idx="29">
                  <c:v>9.42</c:v>
                </c:pt>
                <c:pt idx="30">
                  <c:v>9.27</c:v>
                </c:pt>
                <c:pt idx="31">
                  <c:v>10.95</c:v>
                </c:pt>
                <c:pt idx="32">
                  <c:v>12.04</c:v>
                </c:pt>
                <c:pt idx="33">
                  <c:v>12.01</c:v>
                </c:pt>
                <c:pt idx="34">
                  <c:v>11.02</c:v>
                </c:pt>
                <c:pt idx="35">
                  <c:v>11.28</c:v>
                </c:pt>
                <c:pt idx="36">
                  <c:v>14.17</c:v>
                </c:pt>
                <c:pt idx="37">
                  <c:v>15.09</c:v>
                </c:pt>
                <c:pt idx="38">
                  <c:v>15.44</c:v>
                </c:pt>
                <c:pt idx="39">
                  <c:v>15.74</c:v>
                </c:pt>
                <c:pt idx="40">
                  <c:v>14.79</c:v>
                </c:pt>
                <c:pt idx="41">
                  <c:v>15.46</c:v>
                </c:pt>
                <c:pt idx="42">
                  <c:v>13.56</c:v>
                </c:pt>
                <c:pt idx="43">
                  <c:v>15.48</c:v>
                </c:pt>
                <c:pt idx="44">
                  <c:v>16.559999999999999</c:v>
                </c:pt>
                <c:pt idx="45">
                  <c:v>17.649999999999999</c:v>
                </c:pt>
                <c:pt idx="46">
                  <c:v>12.83</c:v>
                </c:pt>
                <c:pt idx="47">
                  <c:v>9.8699999999999992</c:v>
                </c:pt>
                <c:pt idx="48">
                  <c:v>13.84</c:v>
                </c:pt>
                <c:pt idx="49">
                  <c:v>14.67</c:v>
                </c:pt>
                <c:pt idx="50">
                  <c:v>16.489999999999998</c:v>
                </c:pt>
                <c:pt idx="51">
                  <c:v>16.579999999999998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19BF-4EC4-8B68-12D317F929D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6B6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tickLblSkip val="6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3E3E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6B6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F1F1F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F1F1F"/>
                </a:solidFill>
                <a:latin typeface="Arial"/>
              </a:rPr>
              <a:t>Cancellation rate by payment method (%, axis starts at 1.5)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Cancellation rate by payment method (%, axis starts at 1.5)</c:v>
                </c:pt>
              </c:strCache>
            </c:strRef>
          </c:tx>
          <c:spPr>
            <a:solidFill>
              <a:srgbClr val="0C831F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F389-4371-85C7-50A8D226F107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F389-4371-85C7-50A8D226F107}"/>
              </c:ext>
            </c:extLst>
          </c:dPt>
          <c:dPt>
            <c:idx val="2"/>
            <c:invertIfNegative val="0"/>
            <c:bubble3D val="0"/>
            <c:spPr>
              <a:solidFill>
                <a:srgbClr val="F8CB4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F389-4371-85C7-50A8D226F107}"/>
              </c:ext>
            </c:extLst>
          </c:dPt>
          <c:dPt>
            <c:idx val="3"/>
            <c:invertIfNegative val="0"/>
            <c:bubble3D val="0"/>
            <c:spPr>
              <a:solidFill>
                <a:srgbClr val="F8CB4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F389-4371-85C7-50A8D226F107}"/>
              </c:ext>
            </c:extLst>
          </c:dPt>
          <c:dPt>
            <c:idx val="4"/>
            <c:invertIfNegative val="0"/>
            <c:bubble3D val="0"/>
            <c:spPr>
              <a:solidFill>
                <a:srgbClr val="F8CB4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F389-4371-85C7-50A8D226F107}"/>
              </c:ext>
            </c:extLst>
          </c:dPt>
          <c:dPt>
            <c:idx val="5"/>
            <c:invertIfNegative val="0"/>
            <c:bubble3D val="0"/>
            <c:spPr>
              <a:solidFill>
                <a:srgbClr val="F8CB4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F389-4371-85C7-50A8D226F107}"/>
              </c:ext>
            </c:extLst>
          </c:dPt>
          <c:dPt>
            <c:idx val="6"/>
            <c:invertIfNegative val="0"/>
            <c:bubble3D val="0"/>
            <c:spPr>
              <a:solidFill>
                <a:srgbClr val="F8CB4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F389-4371-85C7-50A8D226F107}"/>
              </c:ext>
            </c:extLst>
          </c:dPt>
          <c:dPt>
            <c:idx val="7"/>
            <c:invertIfNegative val="0"/>
            <c:bubble3D val="0"/>
            <c:spPr>
              <a:solidFill>
                <a:srgbClr val="F8CB4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F389-4371-85C7-50A8D226F107}"/>
              </c:ext>
            </c:extLst>
          </c:dPt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F1F1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Net Banking</c:v>
                </c:pt>
                <c:pt idx="1">
                  <c:v>Cash on Delivery</c:v>
                </c:pt>
                <c:pt idx="2">
                  <c:v>Debit Card</c:v>
                </c:pt>
                <c:pt idx="3">
                  <c:v>Credit Card</c:v>
                </c:pt>
                <c:pt idx="4">
                  <c:v>Wallet</c:v>
                </c:pt>
                <c:pt idx="5">
                  <c:v>UPI</c:v>
                </c:pt>
                <c:pt idx="6">
                  <c:v>EMI</c:v>
                </c:pt>
                <c:pt idx="7">
                  <c:v>Buy Now Pay Later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2.06</c:v>
                </c:pt>
                <c:pt idx="1">
                  <c:v>2.0299999999999998</c:v>
                </c:pt>
                <c:pt idx="2">
                  <c:v>1.96</c:v>
                </c:pt>
                <c:pt idx="3">
                  <c:v>1.89</c:v>
                </c:pt>
                <c:pt idx="4">
                  <c:v>1.89</c:v>
                </c:pt>
                <c:pt idx="5">
                  <c:v>1.81</c:v>
                </c:pt>
                <c:pt idx="6">
                  <c:v>1.78</c:v>
                </c:pt>
                <c:pt idx="7">
                  <c:v>1.71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0-F389-4371-85C7-50A8D226F10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6B6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.2000000000000002"/>
          <c:min val="1.5"/>
        </c:scaling>
        <c:delete val="1"/>
        <c:axPos val="t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F1F1F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F1F1F"/>
                </a:solidFill>
                <a:latin typeface="Arial"/>
              </a:rPr>
              <a:t>Delivery fee as % of basket value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Delivery fee as % of basket value</c:v>
                </c:pt>
              </c:strCache>
            </c:strRef>
          </c:tx>
          <c:spPr>
            <a:solidFill>
              <a:srgbClr val="0C831F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ACF5-4DE8-A4BA-EA5CC381A56D}"/>
              </c:ext>
            </c:extLst>
          </c:dPt>
          <c:dPt>
            <c:idx val="1"/>
            <c:invertIfNegative val="0"/>
            <c:bubble3D val="0"/>
            <c:spPr>
              <a:solidFill>
                <a:srgbClr val="F8CB4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ACF5-4DE8-A4BA-EA5CC381A56D}"/>
              </c:ext>
            </c:extLst>
          </c:dPt>
          <c:dPt>
            <c:idx val="2"/>
            <c:invertIfNegative val="0"/>
            <c:bubble3D val="0"/>
            <c:spPr>
              <a:solidFill>
                <a:srgbClr val="F8CB4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ACF5-4DE8-A4BA-EA5CC381A56D}"/>
              </c:ext>
            </c:extLst>
          </c:dPt>
          <c:dPt>
            <c:idx val="3"/>
            <c:invertIfNegative val="0"/>
            <c:bubble3D val="0"/>
            <c:spPr>
              <a:solidFill>
                <a:srgbClr val="F8CB4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ACF5-4DE8-A4BA-EA5CC381A56D}"/>
              </c:ext>
            </c:extLst>
          </c:dPt>
          <c:dPt>
            <c:idx val="4"/>
            <c:invertIfNegative val="0"/>
            <c:bubble3D val="0"/>
            <c:spPr>
              <a:solidFill>
                <a:srgbClr val="F8CB4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ACF5-4DE8-A4BA-EA5CC381A56D}"/>
              </c:ext>
            </c:extLst>
          </c:dPt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F1F1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&lt; 100</c:v>
                </c:pt>
                <c:pt idx="1">
                  <c:v>100-199</c:v>
                </c:pt>
                <c:pt idx="2">
                  <c:v>200-399</c:v>
                </c:pt>
                <c:pt idx="3">
                  <c:v>400-699</c:v>
                </c:pt>
                <c:pt idx="4">
                  <c:v>700+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43.6</c:v>
                </c:pt>
                <c:pt idx="1">
                  <c:v>14.19</c:v>
                </c:pt>
                <c:pt idx="2">
                  <c:v>2.14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ACF5-4DE8-A4BA-EA5CC381A56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6B6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028550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Data flag: Dec-24 and Dec-25 show -34% and -68% order drops vs November; validate for missing data before presenting those months.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9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0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in/your-profile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github.com/your-username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CB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-1280160"/>
            <a:ext cx="3291840" cy="3291840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0" y="3566160"/>
            <a:ext cx="2926080" cy="2926080"/>
          </a:xfrm>
          <a:prstGeom prst="ellipse">
            <a:avLst/>
          </a:prstGeom>
          <a:solidFill>
            <a:srgbClr val="0C831F">
              <a:alpha val="20000"/>
            </a:srgbClr>
          </a:solidFill>
          <a:ln w="12700">
            <a:solidFill>
              <a:srgbClr val="0C831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377440" y="731520"/>
            <a:ext cx="4389120" cy="1554480"/>
          </a:xfrm>
          <a:prstGeom prst="roundRect">
            <a:avLst>
              <a:gd name="adj" fmla="val 2058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52400" dist="38100" dir="5400000" algn="bl" rotWithShape="0">
              <a:srgbClr val="000000">
                <a:alpha val="20000"/>
              </a:srgbClr>
            </a:outerShdw>
          </a:effectLst>
        </p:spPr>
      </p:sp>
      <p:sp>
        <p:nvSpPr>
          <p:cNvPr id="5" name="Blinkit wordmark"/>
          <p:cNvSpPr txBox="1"/>
          <p:nvPr/>
        </p:nvSpPr>
        <p:spPr>
          <a:xfrm>
            <a:off x="2377440" y="731520"/>
            <a:ext cx="43891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600" b="1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blink</a:t>
            </a:r>
            <a:r>
              <a:rPr lang="en-US" sz="6600" b="1" dirty="0">
                <a:solidFill>
                  <a:srgbClr val="0C8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</a:t>
            </a:r>
            <a:endParaRPr lang="en-US" sz="66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606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1F1F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Order Analysis</a:t>
            </a:r>
            <a:endParaRPr lang="en-US" sz="38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346854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1F1F"/>
                </a:solidFill>
              </a:rPr>
              <a:t>MySQL  |  Growth  |  Operations  |  Customers  |  Pricing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822960" cy="310896"/>
          </a:xfrm>
          <a:prstGeom prst="roundRect">
            <a:avLst>
              <a:gd name="adj" fmla="val 50000"/>
            </a:avLst>
          </a:prstGeom>
          <a:solidFill>
            <a:srgbClr val="F8CB46"/>
          </a:solidFill>
          <a:ln w="12700">
            <a:solidFill>
              <a:srgbClr val="F8CB4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20040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1F1F"/>
                </a:solidFill>
              </a:rPr>
              <a:t>Q01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417320" y="2743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1F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 the business growing?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6B6B"/>
                </a:solidFill>
              </a:rPr>
              <a:t>Track monthly GMV, order value and growth to spot slowdowns.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4754880" cy="3429000"/>
          </a:xfrm>
          <a:prstGeom prst="roundRect">
            <a:avLst>
              <a:gd name="adj" fmla="val 3200"/>
            </a:avLst>
          </a:prstGeom>
          <a:solidFill>
            <a:srgbClr val="F3F3F3"/>
          </a:solidFill>
          <a:ln w="12700">
            <a:solidFill>
              <a:srgbClr val="F3F3F3"/>
            </a:solidFill>
            <a:prstDash val="solid"/>
          </a:ln>
        </p:spPr>
      </p:sp>
      <p:graphicFrame>
        <p:nvGraphicFramePr>
          <p:cNvPr id="7" name="Chart 0"/>
          <p:cNvGraphicFramePr/>
          <p:nvPr/>
        </p:nvGraphicFramePr>
        <p:xfrm>
          <a:off x="548640" y="1280160"/>
          <a:ext cx="4572000" cy="3337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Shape 5"/>
          <p:cNvSpPr/>
          <p:nvPr/>
        </p:nvSpPr>
        <p:spPr>
          <a:xfrm>
            <a:off x="5440680" y="1234440"/>
            <a:ext cx="3246120" cy="1088136"/>
          </a:xfrm>
          <a:prstGeom prst="roundRect">
            <a:avLst>
              <a:gd name="adj" fmla="val 8403"/>
            </a:avLst>
          </a:prstGeom>
          <a:solidFill>
            <a:srgbClr val="FFFFFF"/>
          </a:solidFill>
          <a:ln w="9525">
            <a:solidFill>
              <a:srgbClr val="E3E3E3"/>
            </a:solidFill>
            <a:prstDash val="solid"/>
          </a:ln>
          <a:effectLst>
            <a:outerShdw blurRad="76200" dist="1905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5577840" y="1298448"/>
            <a:ext cx="2971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C83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8.5x</a:t>
            </a:r>
            <a:endParaRPr lang="en-US" sz="2200" dirty="0"/>
          </a:p>
        </p:txBody>
      </p:sp>
      <p:sp>
        <p:nvSpPr>
          <p:cNvPr id="10" name="Text 7"/>
          <p:cNvSpPr txBox="1"/>
          <p:nvPr/>
        </p:nvSpPr>
        <p:spPr>
          <a:xfrm>
            <a:off x="5577840" y="1664208"/>
            <a:ext cx="2971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1F1F"/>
                </a:solidFill>
              </a:rPr>
              <a:t>Monthly GMV grew from ₹2.2 Cr (Jan-22) to ₹18.7 Cr (Apr-26)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5440680" y="2404872"/>
            <a:ext cx="3246120" cy="1088136"/>
          </a:xfrm>
          <a:prstGeom prst="roundRect">
            <a:avLst>
              <a:gd name="adj" fmla="val 8403"/>
            </a:avLst>
          </a:prstGeom>
          <a:solidFill>
            <a:srgbClr val="FFFFFF"/>
          </a:solidFill>
          <a:ln w="9525">
            <a:solidFill>
              <a:srgbClr val="E3E3E3"/>
            </a:solidFill>
            <a:prstDash val="solid"/>
          </a:ln>
          <a:effectLst>
            <a:outerShdw blurRad="76200" dist="1905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5577840" y="2468880"/>
            <a:ext cx="2971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C83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+70%</a:t>
            </a:r>
            <a:endParaRPr lang="en-US" sz="2200" dirty="0"/>
          </a:p>
        </p:txBody>
      </p:sp>
      <p:sp>
        <p:nvSpPr>
          <p:cNvPr id="13" name="Text 10"/>
          <p:cNvSpPr txBox="1"/>
          <p:nvPr/>
        </p:nvSpPr>
        <p:spPr>
          <a:xfrm>
            <a:off x="5577840" y="2834640"/>
            <a:ext cx="2971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1F1F"/>
                </a:solidFill>
              </a:rPr>
              <a:t>Average order value rose from ₹739 (2022) to ₹1,256 (2026 YTD)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5440680" y="3575304"/>
            <a:ext cx="3246120" cy="1088136"/>
          </a:xfrm>
          <a:prstGeom prst="roundRect">
            <a:avLst>
              <a:gd name="adj" fmla="val 8403"/>
            </a:avLst>
          </a:prstGeom>
          <a:solidFill>
            <a:srgbClr val="FFFFFF"/>
          </a:solidFill>
          <a:ln w="9525">
            <a:solidFill>
              <a:srgbClr val="E3E3E3"/>
            </a:solidFill>
            <a:prstDash val="solid"/>
          </a:ln>
          <a:effectLst>
            <a:outerShdw blurRad="76200" dist="1905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2"/>
          <p:cNvSpPr txBox="1"/>
          <p:nvPr/>
        </p:nvSpPr>
        <p:spPr>
          <a:xfrm>
            <a:off x="5577840" y="3639312"/>
            <a:ext cx="2971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C83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+28%</a:t>
            </a:r>
            <a:endParaRPr lang="en-US" sz="2200" dirty="0"/>
          </a:p>
        </p:txBody>
      </p:sp>
      <p:sp>
        <p:nvSpPr>
          <p:cNvPr id="16" name="Text 13"/>
          <p:cNvSpPr txBox="1"/>
          <p:nvPr/>
        </p:nvSpPr>
        <p:spPr>
          <a:xfrm>
            <a:off x="5577840" y="4005072"/>
            <a:ext cx="2971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1F1F"/>
                </a:solidFill>
              </a:rPr>
              <a:t>2026 YTD GMV growth vs 2025, down from +131% in 2025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822960" cy="310896"/>
          </a:xfrm>
          <a:prstGeom prst="roundRect">
            <a:avLst>
              <a:gd name="adj" fmla="val 50000"/>
            </a:avLst>
          </a:prstGeom>
          <a:solidFill>
            <a:srgbClr val="F8CB46"/>
          </a:solidFill>
          <a:ln w="12700">
            <a:solidFill>
              <a:srgbClr val="F8CB4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20040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1F1F"/>
                </a:solidFill>
              </a:rPr>
              <a:t>Q02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417320" y="2743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1F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much revenue do failed orders cost us?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6B6B"/>
                </a:solidFill>
              </a:rPr>
              <a:t>Cancellations, returns and partial deliveries drain revenue.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4754880" cy="3429000"/>
          </a:xfrm>
          <a:prstGeom prst="roundRect">
            <a:avLst>
              <a:gd name="adj" fmla="val 3200"/>
            </a:avLst>
          </a:prstGeom>
          <a:solidFill>
            <a:srgbClr val="F3F3F3"/>
          </a:solidFill>
          <a:ln w="12700">
            <a:solidFill>
              <a:srgbClr val="F3F3F3"/>
            </a:solidFill>
            <a:prstDash val="solid"/>
          </a:ln>
        </p:spPr>
      </p:sp>
      <p:graphicFrame>
        <p:nvGraphicFramePr>
          <p:cNvPr id="7" name="Chart 0"/>
          <p:cNvGraphicFramePr/>
          <p:nvPr/>
        </p:nvGraphicFramePr>
        <p:xfrm>
          <a:off x="548640" y="1280160"/>
          <a:ext cx="4572000" cy="3337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Shape 5"/>
          <p:cNvSpPr/>
          <p:nvPr/>
        </p:nvSpPr>
        <p:spPr>
          <a:xfrm>
            <a:off x="5440680" y="1234440"/>
            <a:ext cx="3246120" cy="1088136"/>
          </a:xfrm>
          <a:prstGeom prst="roundRect">
            <a:avLst>
              <a:gd name="adj" fmla="val 8403"/>
            </a:avLst>
          </a:prstGeom>
          <a:solidFill>
            <a:srgbClr val="FFFFFF"/>
          </a:solidFill>
          <a:ln w="9525">
            <a:solidFill>
              <a:srgbClr val="E3E3E3"/>
            </a:solidFill>
            <a:prstDash val="solid"/>
          </a:ln>
          <a:effectLst>
            <a:outerShdw blurRad="76200" dist="1905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5577840" y="1298448"/>
            <a:ext cx="2971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C83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₹17.3 Cr</a:t>
            </a:r>
            <a:endParaRPr lang="en-US" sz="2200" dirty="0"/>
          </a:p>
        </p:txBody>
      </p:sp>
      <p:sp>
        <p:nvSpPr>
          <p:cNvPr id="10" name="Text 7"/>
          <p:cNvSpPr txBox="1"/>
          <p:nvPr/>
        </p:nvSpPr>
        <p:spPr>
          <a:xfrm>
            <a:off x="5577840" y="1664208"/>
            <a:ext cx="2971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1F1F"/>
                </a:solidFill>
              </a:rPr>
              <a:t>Lost on failed orders, equal to 4.6% of delivered GMV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5440680" y="2404872"/>
            <a:ext cx="3246120" cy="1088136"/>
          </a:xfrm>
          <a:prstGeom prst="roundRect">
            <a:avLst>
              <a:gd name="adj" fmla="val 8403"/>
            </a:avLst>
          </a:prstGeom>
          <a:solidFill>
            <a:srgbClr val="FFFFFF"/>
          </a:solidFill>
          <a:ln w="9525">
            <a:solidFill>
              <a:srgbClr val="E3E3E3"/>
            </a:solidFill>
            <a:prstDash val="solid"/>
          </a:ln>
          <a:effectLst>
            <a:outerShdw blurRad="76200" dist="1905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5577840" y="2468880"/>
            <a:ext cx="2971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C83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30%</a:t>
            </a:r>
            <a:endParaRPr lang="en-US" sz="2200" dirty="0"/>
          </a:p>
        </p:txBody>
      </p:sp>
      <p:sp>
        <p:nvSpPr>
          <p:cNvPr id="13" name="Text 10"/>
          <p:cNvSpPr txBox="1"/>
          <p:nvPr/>
        </p:nvSpPr>
        <p:spPr>
          <a:xfrm>
            <a:off x="5577840" y="2834640"/>
            <a:ext cx="2971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1F1F"/>
                </a:solidFill>
              </a:rPr>
              <a:t>From partial deliveries, which have no reason recorded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5440680" y="3575304"/>
            <a:ext cx="3246120" cy="1088136"/>
          </a:xfrm>
          <a:prstGeom prst="roundRect">
            <a:avLst>
              <a:gd name="adj" fmla="val 8403"/>
            </a:avLst>
          </a:prstGeom>
          <a:solidFill>
            <a:srgbClr val="FFFFFF"/>
          </a:solidFill>
          <a:ln w="9525">
            <a:solidFill>
              <a:srgbClr val="E3E3E3"/>
            </a:solidFill>
            <a:prstDash val="solid"/>
          </a:ln>
          <a:effectLst>
            <a:outerShdw blurRad="76200" dist="1905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2"/>
          <p:cNvSpPr txBox="1"/>
          <p:nvPr/>
        </p:nvSpPr>
        <p:spPr>
          <a:xfrm>
            <a:off x="5577840" y="3639312"/>
            <a:ext cx="2971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C83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₹5.2 Cr</a:t>
            </a:r>
            <a:endParaRPr lang="en-US" sz="2200" dirty="0"/>
          </a:p>
        </p:txBody>
      </p:sp>
      <p:sp>
        <p:nvSpPr>
          <p:cNvPr id="16" name="Text 13"/>
          <p:cNvSpPr txBox="1"/>
          <p:nvPr/>
        </p:nvSpPr>
        <p:spPr>
          <a:xfrm>
            <a:off x="5577840" y="4005072"/>
            <a:ext cx="2971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1F1F"/>
                </a:solidFill>
              </a:rPr>
              <a:t>In returns, all ops failures: wrong item, expired, damaged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822960" cy="310896"/>
          </a:xfrm>
          <a:prstGeom prst="roundRect">
            <a:avLst>
              <a:gd name="adj" fmla="val 50000"/>
            </a:avLst>
          </a:prstGeom>
          <a:solidFill>
            <a:srgbClr val="F8CB46"/>
          </a:solidFill>
          <a:ln w="12700">
            <a:solidFill>
              <a:srgbClr val="F8CB4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20040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1F1F"/>
                </a:solidFill>
              </a:rPr>
              <a:t>Q03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417320" y="2743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1F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Does delivery speed drive loyalty?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6B6B"/>
                </a:solidFill>
              </a:rPr>
              <a:t>Test whether slower deliveries hurt ratings and repeat orders.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4754880" cy="3429000"/>
          </a:xfrm>
          <a:prstGeom prst="roundRect">
            <a:avLst>
              <a:gd name="adj" fmla="val 3200"/>
            </a:avLst>
          </a:prstGeom>
          <a:solidFill>
            <a:srgbClr val="F3F3F3"/>
          </a:solidFill>
          <a:ln w="12700">
            <a:solidFill>
              <a:srgbClr val="F3F3F3"/>
            </a:solidFill>
            <a:prstDash val="solid"/>
          </a:ln>
        </p:spPr>
      </p:sp>
      <p:graphicFrame>
        <p:nvGraphicFramePr>
          <p:cNvPr id="7" name="Chart 0"/>
          <p:cNvGraphicFramePr/>
          <p:nvPr/>
        </p:nvGraphicFramePr>
        <p:xfrm>
          <a:off x="548640" y="1280160"/>
          <a:ext cx="4572000" cy="3337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Shape 5"/>
          <p:cNvSpPr/>
          <p:nvPr/>
        </p:nvSpPr>
        <p:spPr>
          <a:xfrm>
            <a:off x="5440680" y="1234440"/>
            <a:ext cx="3246120" cy="1088136"/>
          </a:xfrm>
          <a:prstGeom prst="roundRect">
            <a:avLst>
              <a:gd name="adj" fmla="val 8403"/>
            </a:avLst>
          </a:prstGeom>
          <a:solidFill>
            <a:srgbClr val="FFFFFF"/>
          </a:solidFill>
          <a:ln w="9525">
            <a:solidFill>
              <a:srgbClr val="E3E3E3"/>
            </a:solidFill>
            <a:prstDash val="solid"/>
          </a:ln>
          <a:effectLst>
            <a:outerShdw blurRad="76200" dist="1905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5577840" y="1298448"/>
            <a:ext cx="2971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C83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34%</a:t>
            </a:r>
            <a:endParaRPr lang="en-US" sz="2200" dirty="0"/>
          </a:p>
        </p:txBody>
      </p:sp>
      <p:sp>
        <p:nvSpPr>
          <p:cNvPr id="10" name="Text 7"/>
          <p:cNvSpPr txBox="1"/>
          <p:nvPr/>
        </p:nvSpPr>
        <p:spPr>
          <a:xfrm>
            <a:off x="5577840" y="1664208"/>
            <a:ext cx="2971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1F1F"/>
                </a:solidFill>
              </a:rPr>
              <a:t>Of orders arrive within 10 minutes, the largest bucket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5440680" y="2404872"/>
            <a:ext cx="3246120" cy="1088136"/>
          </a:xfrm>
          <a:prstGeom prst="roundRect">
            <a:avLst>
              <a:gd name="adj" fmla="val 8403"/>
            </a:avLst>
          </a:prstGeom>
          <a:solidFill>
            <a:srgbClr val="FFFFFF"/>
          </a:solidFill>
          <a:ln w="9525">
            <a:solidFill>
              <a:srgbClr val="E3E3E3"/>
            </a:solidFill>
            <a:prstDash val="solid"/>
          </a:ln>
          <a:effectLst>
            <a:outerShdw blurRad="76200" dist="1905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5577840" y="2468880"/>
            <a:ext cx="2971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C83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-3 pts</a:t>
            </a:r>
            <a:endParaRPr lang="en-US" sz="2200" dirty="0"/>
          </a:p>
        </p:txBody>
      </p:sp>
      <p:sp>
        <p:nvSpPr>
          <p:cNvPr id="13" name="Text 10"/>
          <p:cNvSpPr txBox="1"/>
          <p:nvPr/>
        </p:nvSpPr>
        <p:spPr>
          <a:xfrm>
            <a:off x="5577840" y="2834640"/>
            <a:ext cx="2971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1F1F"/>
                </a:solidFill>
              </a:rPr>
              <a:t>Reorder rate falls from 65.4% (≤10 min) to 62.4% (30+ min)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5440680" y="3575304"/>
            <a:ext cx="3246120" cy="1088136"/>
          </a:xfrm>
          <a:prstGeom prst="roundRect">
            <a:avLst>
              <a:gd name="adj" fmla="val 8403"/>
            </a:avLst>
          </a:prstGeom>
          <a:solidFill>
            <a:srgbClr val="FFFFFF"/>
          </a:solidFill>
          <a:ln w="9525">
            <a:solidFill>
              <a:srgbClr val="E3E3E3"/>
            </a:solidFill>
            <a:prstDash val="solid"/>
          </a:ln>
          <a:effectLst>
            <a:outerShdw blurRad="76200" dist="1905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2"/>
          <p:cNvSpPr txBox="1"/>
          <p:nvPr/>
        </p:nvSpPr>
        <p:spPr>
          <a:xfrm>
            <a:off x="5577840" y="3639312"/>
            <a:ext cx="2971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C83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14%</a:t>
            </a:r>
            <a:endParaRPr lang="en-US" sz="2200" dirty="0"/>
          </a:p>
        </p:txBody>
      </p:sp>
      <p:sp>
        <p:nvSpPr>
          <p:cNvPr id="16" name="Text 13"/>
          <p:cNvSpPr txBox="1"/>
          <p:nvPr/>
        </p:nvSpPr>
        <p:spPr>
          <a:xfrm>
            <a:off x="5577840" y="4005072"/>
            <a:ext cx="2971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1F1F"/>
                </a:solidFill>
              </a:rPr>
              <a:t>Of orders take 30+ minutes, putting ~16K repeat orders at risk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822960" cy="310896"/>
          </a:xfrm>
          <a:prstGeom prst="roundRect">
            <a:avLst>
              <a:gd name="adj" fmla="val 50000"/>
            </a:avLst>
          </a:prstGeom>
          <a:solidFill>
            <a:srgbClr val="F8CB46"/>
          </a:solidFill>
          <a:ln w="12700">
            <a:solidFill>
              <a:srgbClr val="F8CB4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20040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1F1F"/>
                </a:solidFill>
              </a:rPr>
              <a:t>Q04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417320" y="2743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1F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is demand highest?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6B6B"/>
                </a:solidFill>
              </a:rPr>
              <a:t>Find peak hours to plan riders, pickers and stock refills.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4754880" cy="3429000"/>
          </a:xfrm>
          <a:prstGeom prst="roundRect">
            <a:avLst>
              <a:gd name="adj" fmla="val 3200"/>
            </a:avLst>
          </a:prstGeom>
          <a:solidFill>
            <a:srgbClr val="F3F3F3"/>
          </a:solidFill>
          <a:ln w="12700">
            <a:solidFill>
              <a:srgbClr val="F3F3F3"/>
            </a:solidFill>
            <a:prstDash val="solid"/>
          </a:ln>
        </p:spPr>
      </p:sp>
      <p:graphicFrame>
        <p:nvGraphicFramePr>
          <p:cNvPr id="7" name="Chart 0"/>
          <p:cNvGraphicFramePr/>
          <p:nvPr/>
        </p:nvGraphicFramePr>
        <p:xfrm>
          <a:off x="548640" y="1280160"/>
          <a:ext cx="4572000" cy="3337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Shape 5"/>
          <p:cNvSpPr/>
          <p:nvPr/>
        </p:nvSpPr>
        <p:spPr>
          <a:xfrm>
            <a:off x="5440680" y="1234440"/>
            <a:ext cx="3246120" cy="1088136"/>
          </a:xfrm>
          <a:prstGeom prst="roundRect">
            <a:avLst>
              <a:gd name="adj" fmla="val 8403"/>
            </a:avLst>
          </a:prstGeom>
          <a:solidFill>
            <a:srgbClr val="FFFFFF"/>
          </a:solidFill>
          <a:ln w="9525">
            <a:solidFill>
              <a:srgbClr val="E3E3E3"/>
            </a:solidFill>
            <a:prstDash val="solid"/>
          </a:ln>
          <a:effectLst>
            <a:outerShdw blurRad="76200" dist="1905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5577840" y="1298448"/>
            <a:ext cx="2971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C83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peaks</a:t>
            </a:r>
            <a:endParaRPr lang="en-US" sz="2200" dirty="0"/>
          </a:p>
        </p:txBody>
      </p:sp>
      <p:sp>
        <p:nvSpPr>
          <p:cNvPr id="10" name="Text 7"/>
          <p:cNvSpPr txBox="1"/>
          <p:nvPr/>
        </p:nvSpPr>
        <p:spPr>
          <a:xfrm>
            <a:off x="5577840" y="1664208"/>
            <a:ext cx="2971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1F1F"/>
                </a:solidFill>
              </a:rPr>
              <a:t>11 AM and 6 to 7 PM produce the busiest slots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5440680" y="2404872"/>
            <a:ext cx="3246120" cy="1088136"/>
          </a:xfrm>
          <a:prstGeom prst="roundRect">
            <a:avLst>
              <a:gd name="adj" fmla="val 8403"/>
            </a:avLst>
          </a:prstGeom>
          <a:solidFill>
            <a:srgbClr val="FFFFFF"/>
          </a:solidFill>
          <a:ln w="9525">
            <a:solidFill>
              <a:srgbClr val="E3E3E3"/>
            </a:solidFill>
            <a:prstDash val="solid"/>
          </a:ln>
          <a:effectLst>
            <a:outerShdw blurRad="76200" dist="1905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5577840" y="2468880"/>
            <a:ext cx="2971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C83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86%</a:t>
            </a:r>
            <a:endParaRPr lang="en-US" sz="2200" dirty="0"/>
          </a:p>
        </p:txBody>
      </p:sp>
      <p:sp>
        <p:nvSpPr>
          <p:cNvPr id="13" name="Text 10"/>
          <p:cNvSpPr txBox="1"/>
          <p:nvPr/>
        </p:nvSpPr>
        <p:spPr>
          <a:xfrm>
            <a:off x="5577840" y="2834640"/>
            <a:ext cx="2971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1F1F"/>
                </a:solidFill>
              </a:rPr>
              <a:t>Of top-slot orders land on Friday, Saturday or Sunday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5440680" y="3575304"/>
            <a:ext cx="3246120" cy="1088136"/>
          </a:xfrm>
          <a:prstGeom prst="roundRect">
            <a:avLst>
              <a:gd name="adj" fmla="val 8403"/>
            </a:avLst>
          </a:prstGeom>
          <a:solidFill>
            <a:srgbClr val="FFFFFF"/>
          </a:solidFill>
          <a:ln w="9525">
            <a:solidFill>
              <a:srgbClr val="E3E3E3"/>
            </a:solidFill>
            <a:prstDash val="solid"/>
          </a:ln>
          <a:effectLst>
            <a:outerShdw blurRad="76200" dist="1905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2"/>
          <p:cNvSpPr txBox="1"/>
          <p:nvPr/>
        </p:nvSpPr>
        <p:spPr>
          <a:xfrm>
            <a:off x="5577840" y="3639312"/>
            <a:ext cx="2971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C83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~19 min</a:t>
            </a:r>
            <a:endParaRPr lang="en-US" sz="2200" dirty="0"/>
          </a:p>
        </p:txBody>
      </p:sp>
      <p:sp>
        <p:nvSpPr>
          <p:cNvPr id="16" name="Text 13"/>
          <p:cNvSpPr txBox="1"/>
          <p:nvPr/>
        </p:nvSpPr>
        <p:spPr>
          <a:xfrm>
            <a:off x="5577840" y="4005072"/>
            <a:ext cx="2971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1F1F"/>
                </a:solidFill>
              </a:rPr>
              <a:t>Delivery time stays flat even in the busiest slots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822960" cy="310896"/>
          </a:xfrm>
          <a:prstGeom prst="roundRect">
            <a:avLst>
              <a:gd name="adj" fmla="val 50000"/>
            </a:avLst>
          </a:prstGeom>
          <a:solidFill>
            <a:srgbClr val="F8CB46"/>
          </a:solidFill>
          <a:ln w="12700">
            <a:solidFill>
              <a:srgbClr val="F8CB4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20040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1F1F"/>
                </a:solidFill>
              </a:rPr>
              <a:t>Q05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417320" y="2743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1F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cities are stars?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6B6B"/>
                </a:solidFill>
              </a:rPr>
              <a:t>Compare cities and zones on volume, order value and speed.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4754880" cy="3429000"/>
          </a:xfrm>
          <a:prstGeom prst="roundRect">
            <a:avLst>
              <a:gd name="adj" fmla="val 3200"/>
            </a:avLst>
          </a:prstGeom>
          <a:solidFill>
            <a:srgbClr val="F3F3F3"/>
          </a:solidFill>
          <a:ln w="12700">
            <a:solidFill>
              <a:srgbClr val="F3F3F3"/>
            </a:solidFill>
            <a:prstDash val="solid"/>
          </a:ln>
        </p:spPr>
      </p:sp>
      <p:graphicFrame>
        <p:nvGraphicFramePr>
          <p:cNvPr id="7" name="Chart 0"/>
          <p:cNvGraphicFramePr/>
          <p:nvPr/>
        </p:nvGraphicFramePr>
        <p:xfrm>
          <a:off x="548640" y="1280160"/>
          <a:ext cx="4572000" cy="3337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Shape 5"/>
          <p:cNvSpPr/>
          <p:nvPr/>
        </p:nvSpPr>
        <p:spPr>
          <a:xfrm>
            <a:off x="5440680" y="1234440"/>
            <a:ext cx="3246120" cy="1088136"/>
          </a:xfrm>
          <a:prstGeom prst="roundRect">
            <a:avLst>
              <a:gd name="adj" fmla="val 8403"/>
            </a:avLst>
          </a:prstGeom>
          <a:solidFill>
            <a:srgbClr val="FFFFFF"/>
          </a:solidFill>
          <a:ln w="9525">
            <a:solidFill>
              <a:srgbClr val="E3E3E3"/>
            </a:solidFill>
            <a:prstDash val="solid"/>
          </a:ln>
          <a:effectLst>
            <a:outerShdw blurRad="76200" dist="1905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5577840" y="1298448"/>
            <a:ext cx="2971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C83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36%</a:t>
            </a:r>
            <a:endParaRPr lang="en-US" sz="2200" dirty="0"/>
          </a:p>
        </p:txBody>
      </p:sp>
      <p:sp>
        <p:nvSpPr>
          <p:cNvPr id="10" name="Text 7"/>
          <p:cNvSpPr txBox="1"/>
          <p:nvPr/>
        </p:nvSpPr>
        <p:spPr>
          <a:xfrm>
            <a:off x="5577840" y="1664208"/>
            <a:ext cx="2971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1F1F"/>
                </a:solidFill>
              </a:rPr>
              <a:t>Of GMV comes from Mumbai and Delhi; top 5 cities give 66%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5440680" y="2404872"/>
            <a:ext cx="3246120" cy="1088136"/>
          </a:xfrm>
          <a:prstGeom prst="roundRect">
            <a:avLst>
              <a:gd name="adj" fmla="val 8403"/>
            </a:avLst>
          </a:prstGeom>
          <a:solidFill>
            <a:srgbClr val="FFFFFF"/>
          </a:solidFill>
          <a:ln w="9525">
            <a:solidFill>
              <a:srgbClr val="E3E3E3"/>
            </a:solidFill>
            <a:prstDash val="solid"/>
          </a:ln>
          <a:effectLst>
            <a:outerShdw blurRad="76200" dist="1905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5577840" y="2468880"/>
            <a:ext cx="2971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C83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₹1,200+</a:t>
            </a:r>
            <a:endParaRPr lang="en-US" sz="2200" dirty="0"/>
          </a:p>
        </p:txBody>
      </p:sp>
      <p:sp>
        <p:nvSpPr>
          <p:cNvPr id="13" name="Text 10"/>
          <p:cNvSpPr txBox="1"/>
          <p:nvPr/>
        </p:nvSpPr>
        <p:spPr>
          <a:xfrm>
            <a:off x="5577840" y="2834640"/>
            <a:ext cx="2971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1F1F"/>
                </a:solidFill>
              </a:rPr>
              <a:t>Order value in small cities like Mysuru vs ~₹980 in metro zones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5440680" y="3575304"/>
            <a:ext cx="3246120" cy="1088136"/>
          </a:xfrm>
          <a:prstGeom prst="roundRect">
            <a:avLst>
              <a:gd name="adj" fmla="val 8403"/>
            </a:avLst>
          </a:prstGeom>
          <a:solidFill>
            <a:srgbClr val="FFFFFF"/>
          </a:solidFill>
          <a:ln w="9525">
            <a:solidFill>
              <a:srgbClr val="E3E3E3"/>
            </a:solidFill>
            <a:prstDash val="solid"/>
          </a:ln>
          <a:effectLst>
            <a:outerShdw blurRad="76200" dist="1905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2"/>
          <p:cNvSpPr txBox="1"/>
          <p:nvPr/>
        </p:nvSpPr>
        <p:spPr>
          <a:xfrm>
            <a:off x="5577840" y="3639312"/>
            <a:ext cx="2971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C83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 min</a:t>
            </a:r>
            <a:endParaRPr lang="en-US" sz="2200" dirty="0"/>
          </a:p>
        </p:txBody>
      </p:sp>
      <p:sp>
        <p:nvSpPr>
          <p:cNvPr id="16" name="Text 13"/>
          <p:cNvSpPr txBox="1"/>
          <p:nvPr/>
        </p:nvSpPr>
        <p:spPr>
          <a:xfrm>
            <a:off x="5577840" y="4005072"/>
            <a:ext cx="2971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1F1F"/>
                </a:solidFill>
              </a:rPr>
              <a:t>Small-city delivery beats metros at 19.7 min, with 4.4 ratings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822960" cy="310896"/>
          </a:xfrm>
          <a:prstGeom prst="roundRect">
            <a:avLst>
              <a:gd name="adj" fmla="val 50000"/>
            </a:avLst>
          </a:prstGeom>
          <a:solidFill>
            <a:srgbClr val="F8CB46"/>
          </a:solidFill>
          <a:ln w="12700">
            <a:solidFill>
              <a:srgbClr val="F8CB4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20040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1F1F"/>
                </a:solidFill>
              </a:rPr>
              <a:t>Q06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417320" y="2743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1F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Are promo codes worth it?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6B6B"/>
                </a:solidFill>
              </a:rPr>
              <a:t>Judge each code on discount cost, basket size and new users.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4754880" cy="3429000"/>
          </a:xfrm>
          <a:prstGeom prst="roundRect">
            <a:avLst>
              <a:gd name="adj" fmla="val 3200"/>
            </a:avLst>
          </a:prstGeom>
          <a:solidFill>
            <a:srgbClr val="F3F3F3"/>
          </a:solidFill>
          <a:ln w="12700">
            <a:solidFill>
              <a:srgbClr val="F3F3F3"/>
            </a:solidFill>
            <a:prstDash val="solid"/>
          </a:ln>
        </p:spPr>
      </p:sp>
      <p:graphicFrame>
        <p:nvGraphicFramePr>
          <p:cNvPr id="7" name="Chart 0"/>
          <p:cNvGraphicFramePr/>
          <p:nvPr/>
        </p:nvGraphicFramePr>
        <p:xfrm>
          <a:off x="548640" y="1280160"/>
          <a:ext cx="4572000" cy="3337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Shape 5"/>
          <p:cNvSpPr/>
          <p:nvPr/>
        </p:nvSpPr>
        <p:spPr>
          <a:xfrm>
            <a:off x="5440680" y="1234440"/>
            <a:ext cx="3246120" cy="1088136"/>
          </a:xfrm>
          <a:prstGeom prst="roundRect">
            <a:avLst>
              <a:gd name="adj" fmla="val 8403"/>
            </a:avLst>
          </a:prstGeom>
          <a:solidFill>
            <a:srgbClr val="FFFFFF"/>
          </a:solidFill>
          <a:ln w="9525">
            <a:solidFill>
              <a:srgbClr val="E3E3E3"/>
            </a:solidFill>
            <a:prstDash val="solid"/>
          </a:ln>
          <a:effectLst>
            <a:outerShdw blurRad="76200" dist="1905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5577840" y="1298448"/>
            <a:ext cx="2971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C83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₹34.7 Cr</a:t>
            </a:r>
            <a:endParaRPr lang="en-US" sz="2200" dirty="0"/>
          </a:p>
        </p:txBody>
      </p:sp>
      <p:sp>
        <p:nvSpPr>
          <p:cNvPr id="10" name="Text 7"/>
          <p:cNvSpPr txBox="1"/>
          <p:nvPr/>
        </p:nvSpPr>
        <p:spPr>
          <a:xfrm>
            <a:off x="5577840" y="1664208"/>
            <a:ext cx="2971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1F1F"/>
                </a:solidFill>
              </a:rPr>
              <a:t>Total discounts, 9% of GMV, with 58% of orders using a code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5440680" y="2404872"/>
            <a:ext cx="3246120" cy="1088136"/>
          </a:xfrm>
          <a:prstGeom prst="roundRect">
            <a:avLst>
              <a:gd name="adj" fmla="val 8403"/>
            </a:avLst>
          </a:prstGeom>
          <a:solidFill>
            <a:srgbClr val="FFFFFF"/>
          </a:solidFill>
          <a:ln w="9525">
            <a:solidFill>
              <a:srgbClr val="E3E3E3"/>
            </a:solidFill>
            <a:prstDash val="solid"/>
          </a:ln>
          <a:effectLst>
            <a:outerShdw blurRad="76200" dist="1905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5577840" y="2468880"/>
            <a:ext cx="2971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C83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24%</a:t>
            </a:r>
            <a:endParaRPr lang="en-US" sz="2200" dirty="0"/>
          </a:p>
        </p:txBody>
      </p:sp>
      <p:sp>
        <p:nvSpPr>
          <p:cNvPr id="13" name="Text 10"/>
          <p:cNvSpPr txBox="1"/>
          <p:nvPr/>
        </p:nvSpPr>
        <p:spPr>
          <a:xfrm>
            <a:off x="5577840" y="2834640"/>
            <a:ext cx="2971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1F1F"/>
                </a:solidFill>
              </a:rPr>
              <a:t>Of discount spend sits in two codes: SAVE20 and FESTIVE25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5440680" y="3575304"/>
            <a:ext cx="3246120" cy="1088136"/>
          </a:xfrm>
          <a:prstGeom prst="roundRect">
            <a:avLst>
              <a:gd name="adj" fmla="val 8403"/>
            </a:avLst>
          </a:prstGeom>
          <a:solidFill>
            <a:srgbClr val="FFFFFF"/>
          </a:solidFill>
          <a:ln w="9525">
            <a:solidFill>
              <a:srgbClr val="E3E3E3"/>
            </a:solidFill>
            <a:prstDash val="solid"/>
          </a:ln>
          <a:effectLst>
            <a:outerShdw blurRad="76200" dist="1905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2"/>
          <p:cNvSpPr txBox="1"/>
          <p:nvPr/>
        </p:nvSpPr>
        <p:spPr>
          <a:xfrm>
            <a:off x="5577840" y="3639312"/>
            <a:ext cx="2971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C83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2.3%</a:t>
            </a:r>
            <a:endParaRPr lang="en-US" sz="2200" dirty="0"/>
          </a:p>
        </p:txBody>
      </p:sp>
      <p:sp>
        <p:nvSpPr>
          <p:cNvPr id="16" name="Text 13"/>
          <p:cNvSpPr txBox="1"/>
          <p:nvPr/>
        </p:nvSpPr>
        <p:spPr>
          <a:xfrm>
            <a:off x="5577840" y="4005072"/>
            <a:ext cx="2971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1F1F"/>
                </a:solidFill>
              </a:rPr>
              <a:t>NEWUSER first-order share equals no-promo orders (2.2%)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822960" cy="310896"/>
          </a:xfrm>
          <a:prstGeom prst="roundRect">
            <a:avLst>
              <a:gd name="adj" fmla="val 50000"/>
            </a:avLst>
          </a:prstGeom>
          <a:solidFill>
            <a:srgbClr val="F8CB46"/>
          </a:solidFill>
          <a:ln w="12700">
            <a:solidFill>
              <a:srgbClr val="F8CB4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20040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1F1F"/>
                </a:solidFill>
              </a:rPr>
              <a:t>Q07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417320" y="2743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1F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are our most valuable customers?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6B6B"/>
                </a:solidFill>
              </a:rPr>
              <a:t>Check whether loyalty tiers and cashback pay off.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4754880" cy="3429000"/>
          </a:xfrm>
          <a:prstGeom prst="roundRect">
            <a:avLst>
              <a:gd name="adj" fmla="val 3200"/>
            </a:avLst>
          </a:prstGeom>
          <a:solidFill>
            <a:srgbClr val="F3F3F3"/>
          </a:solidFill>
          <a:ln w="12700">
            <a:solidFill>
              <a:srgbClr val="F3F3F3"/>
            </a:solidFill>
            <a:prstDash val="solid"/>
          </a:ln>
        </p:spPr>
      </p:sp>
      <p:graphicFrame>
        <p:nvGraphicFramePr>
          <p:cNvPr id="7" name="Chart 0"/>
          <p:cNvGraphicFramePr/>
          <p:nvPr/>
        </p:nvGraphicFramePr>
        <p:xfrm>
          <a:off x="548640" y="1280160"/>
          <a:ext cx="4572000" cy="3337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Shape 5"/>
          <p:cNvSpPr/>
          <p:nvPr/>
        </p:nvSpPr>
        <p:spPr>
          <a:xfrm>
            <a:off x="5440680" y="1234440"/>
            <a:ext cx="3246120" cy="1088136"/>
          </a:xfrm>
          <a:prstGeom prst="roundRect">
            <a:avLst>
              <a:gd name="adj" fmla="val 8403"/>
            </a:avLst>
          </a:prstGeom>
          <a:solidFill>
            <a:srgbClr val="FFFFFF"/>
          </a:solidFill>
          <a:ln w="9525">
            <a:solidFill>
              <a:srgbClr val="E3E3E3"/>
            </a:solidFill>
            <a:prstDash val="solid"/>
          </a:ln>
          <a:effectLst>
            <a:outerShdw blurRad="76200" dist="1905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5577840" y="1298448"/>
            <a:ext cx="2971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C83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-34%</a:t>
            </a:r>
            <a:endParaRPr lang="en-US" sz="2200" dirty="0"/>
          </a:p>
        </p:txBody>
      </p:sp>
      <p:sp>
        <p:nvSpPr>
          <p:cNvPr id="10" name="Text 7"/>
          <p:cNvSpPr txBox="1"/>
          <p:nvPr/>
        </p:nvSpPr>
        <p:spPr>
          <a:xfrm>
            <a:off x="5577840" y="1664208"/>
            <a:ext cx="2971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1F1F"/>
                </a:solidFill>
              </a:rPr>
              <a:t>Platinum revenue per customer (₹1,727) vs Bronze (₹2,633)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5440680" y="2404872"/>
            <a:ext cx="3246120" cy="1088136"/>
          </a:xfrm>
          <a:prstGeom prst="roundRect">
            <a:avLst>
              <a:gd name="adj" fmla="val 8403"/>
            </a:avLst>
          </a:prstGeom>
          <a:solidFill>
            <a:srgbClr val="FFFFFF"/>
          </a:solidFill>
          <a:ln w="9525">
            <a:solidFill>
              <a:srgbClr val="E3E3E3"/>
            </a:solidFill>
            <a:prstDash val="solid"/>
          </a:ln>
          <a:effectLst>
            <a:outerShdw blurRad="76200" dist="1905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5577840" y="2468880"/>
            <a:ext cx="2971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C83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7.4%</a:t>
            </a:r>
            <a:endParaRPr lang="en-US" sz="2200" dirty="0"/>
          </a:p>
        </p:txBody>
      </p:sp>
      <p:sp>
        <p:nvSpPr>
          <p:cNvPr id="13" name="Text 10"/>
          <p:cNvSpPr txBox="1"/>
          <p:nvPr/>
        </p:nvSpPr>
        <p:spPr>
          <a:xfrm>
            <a:off x="5577840" y="2834640"/>
            <a:ext cx="2971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1F1F"/>
                </a:solidFill>
              </a:rPr>
              <a:t>Of Platinum revenue is paid out as cashback; Bronze gets none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5440680" y="3575304"/>
            <a:ext cx="3246120" cy="1088136"/>
          </a:xfrm>
          <a:prstGeom prst="roundRect">
            <a:avLst>
              <a:gd name="adj" fmla="val 8403"/>
            </a:avLst>
          </a:prstGeom>
          <a:solidFill>
            <a:srgbClr val="FFFFFF"/>
          </a:solidFill>
          <a:ln w="9525">
            <a:solidFill>
              <a:srgbClr val="E3E3E3"/>
            </a:solidFill>
            <a:prstDash val="solid"/>
          </a:ln>
          <a:effectLst>
            <a:outerShdw blurRad="76200" dist="1905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2"/>
          <p:cNvSpPr txBox="1"/>
          <p:nvPr/>
        </p:nvSpPr>
        <p:spPr>
          <a:xfrm>
            <a:off x="5577840" y="3639312"/>
            <a:ext cx="2971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C83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+5%</a:t>
            </a:r>
            <a:endParaRPr lang="en-US" sz="2200" dirty="0"/>
          </a:p>
        </p:txBody>
      </p:sp>
      <p:sp>
        <p:nvSpPr>
          <p:cNvPr id="16" name="Text 13"/>
          <p:cNvSpPr txBox="1"/>
          <p:nvPr/>
        </p:nvSpPr>
        <p:spPr>
          <a:xfrm>
            <a:off x="5577840" y="4005072"/>
            <a:ext cx="2971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1F1F"/>
                </a:solidFill>
              </a:rPr>
              <a:t>Platinum order value barely beats Bronze, with fewer orders each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822960" cy="310896"/>
          </a:xfrm>
          <a:prstGeom prst="roundRect">
            <a:avLst>
              <a:gd name="adj" fmla="val 50000"/>
            </a:avLst>
          </a:prstGeom>
          <a:solidFill>
            <a:srgbClr val="F8CB46"/>
          </a:solidFill>
          <a:ln w="12700">
            <a:solidFill>
              <a:srgbClr val="F8CB4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20040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1F1F"/>
                </a:solidFill>
              </a:rPr>
              <a:t>Q08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417320" y="2743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1F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 new customers come back?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6B6B"/>
                </a:solidFill>
              </a:rPr>
              <a:t>Measure how many new users reorder within 30 days.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4754880" cy="3429000"/>
          </a:xfrm>
          <a:prstGeom prst="roundRect">
            <a:avLst>
              <a:gd name="adj" fmla="val 3200"/>
            </a:avLst>
          </a:prstGeom>
          <a:solidFill>
            <a:srgbClr val="F3F3F3"/>
          </a:solidFill>
          <a:ln w="12700">
            <a:solidFill>
              <a:srgbClr val="F3F3F3"/>
            </a:solidFill>
            <a:prstDash val="solid"/>
          </a:ln>
        </p:spPr>
      </p:sp>
      <p:graphicFrame>
        <p:nvGraphicFramePr>
          <p:cNvPr id="7" name="Chart 0"/>
          <p:cNvGraphicFramePr/>
          <p:nvPr/>
        </p:nvGraphicFramePr>
        <p:xfrm>
          <a:off x="548640" y="1280160"/>
          <a:ext cx="4572000" cy="3337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Shape 5"/>
          <p:cNvSpPr/>
          <p:nvPr/>
        </p:nvSpPr>
        <p:spPr>
          <a:xfrm>
            <a:off x="5440680" y="1234440"/>
            <a:ext cx="3246120" cy="1088136"/>
          </a:xfrm>
          <a:prstGeom prst="roundRect">
            <a:avLst>
              <a:gd name="adj" fmla="val 8403"/>
            </a:avLst>
          </a:prstGeom>
          <a:solidFill>
            <a:srgbClr val="FFFFFF"/>
          </a:solidFill>
          <a:ln w="9525">
            <a:solidFill>
              <a:srgbClr val="E3E3E3"/>
            </a:solidFill>
            <a:prstDash val="solid"/>
          </a:ln>
          <a:effectLst>
            <a:outerShdw blurRad="76200" dist="1905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5577840" y="1298448"/>
            <a:ext cx="2971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C83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85%</a:t>
            </a:r>
            <a:endParaRPr lang="en-US" sz="2200" dirty="0"/>
          </a:p>
        </p:txBody>
      </p:sp>
      <p:sp>
        <p:nvSpPr>
          <p:cNvPr id="10" name="Text 7"/>
          <p:cNvSpPr txBox="1"/>
          <p:nvPr/>
        </p:nvSpPr>
        <p:spPr>
          <a:xfrm>
            <a:off x="5577840" y="1664208"/>
            <a:ext cx="2971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1F1F"/>
                </a:solidFill>
              </a:rPr>
              <a:t>Of new customers in 2025 skip a second order within 30 days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5440680" y="2404872"/>
            <a:ext cx="3246120" cy="1088136"/>
          </a:xfrm>
          <a:prstGeom prst="roundRect">
            <a:avLst>
              <a:gd name="adj" fmla="val 8403"/>
            </a:avLst>
          </a:prstGeom>
          <a:solidFill>
            <a:srgbClr val="FFFFFF"/>
          </a:solidFill>
          <a:ln w="9525">
            <a:solidFill>
              <a:srgbClr val="E3E3E3"/>
            </a:solidFill>
            <a:prstDash val="solid"/>
          </a:ln>
          <a:effectLst>
            <a:outerShdw blurRad="76200" dist="1905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5577840" y="2468880"/>
            <a:ext cx="2971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C83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+4.3 pts</a:t>
            </a:r>
            <a:endParaRPr lang="en-US" sz="2200" dirty="0"/>
          </a:p>
        </p:txBody>
      </p:sp>
      <p:sp>
        <p:nvSpPr>
          <p:cNvPr id="13" name="Text 10"/>
          <p:cNvSpPr txBox="1"/>
          <p:nvPr/>
        </p:nvSpPr>
        <p:spPr>
          <a:xfrm>
            <a:off x="5577840" y="2834640"/>
            <a:ext cx="2971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1F1F"/>
                </a:solidFill>
              </a:rPr>
              <a:t>30-day repeat rate rose from 10.7% (2024) to 15.0% (2025)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5440680" y="3575304"/>
            <a:ext cx="3246120" cy="1088136"/>
          </a:xfrm>
          <a:prstGeom prst="roundRect">
            <a:avLst>
              <a:gd name="adj" fmla="val 8403"/>
            </a:avLst>
          </a:prstGeom>
          <a:solidFill>
            <a:srgbClr val="FFFFFF"/>
          </a:solidFill>
          <a:ln w="9525">
            <a:solidFill>
              <a:srgbClr val="E3E3E3"/>
            </a:solidFill>
            <a:prstDash val="solid"/>
          </a:ln>
          <a:effectLst>
            <a:outerShdw blurRad="76200" dist="1905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2"/>
          <p:cNvSpPr txBox="1"/>
          <p:nvPr/>
        </p:nvSpPr>
        <p:spPr>
          <a:xfrm>
            <a:off x="5577840" y="3639312"/>
            <a:ext cx="2971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C83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16.5%</a:t>
            </a:r>
            <a:endParaRPr lang="en-US" sz="2200" dirty="0"/>
          </a:p>
        </p:txBody>
      </p:sp>
      <p:sp>
        <p:nvSpPr>
          <p:cNvPr id="16" name="Text 13"/>
          <p:cNvSpPr txBox="1"/>
          <p:nvPr/>
        </p:nvSpPr>
        <p:spPr>
          <a:xfrm>
            <a:off x="5577840" y="4005072"/>
            <a:ext cx="2971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1F1F"/>
                </a:solidFill>
              </a:rPr>
              <a:t>Mar and Apr 2026 cohorts are the strongest yet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822960" cy="310896"/>
          </a:xfrm>
          <a:prstGeom prst="roundRect">
            <a:avLst>
              <a:gd name="adj" fmla="val 50000"/>
            </a:avLst>
          </a:prstGeom>
          <a:solidFill>
            <a:srgbClr val="F8CB46"/>
          </a:solidFill>
          <a:ln w="12700">
            <a:solidFill>
              <a:srgbClr val="F8CB4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20040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1F1F"/>
                </a:solidFill>
              </a:rPr>
              <a:t>Q09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417320" y="2743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1F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payments carry the most risk?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6B6B"/>
                </a:solidFill>
              </a:rPr>
              <a:t>Compare cancellation rates by payment method and platform.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4754880" cy="3429000"/>
          </a:xfrm>
          <a:prstGeom prst="roundRect">
            <a:avLst>
              <a:gd name="adj" fmla="val 3200"/>
            </a:avLst>
          </a:prstGeom>
          <a:solidFill>
            <a:srgbClr val="F3F3F3"/>
          </a:solidFill>
          <a:ln w="12700">
            <a:solidFill>
              <a:srgbClr val="F3F3F3"/>
            </a:solidFill>
            <a:prstDash val="solid"/>
          </a:ln>
        </p:spPr>
      </p:sp>
      <p:graphicFrame>
        <p:nvGraphicFramePr>
          <p:cNvPr id="7" name="Chart 0"/>
          <p:cNvGraphicFramePr/>
          <p:nvPr/>
        </p:nvGraphicFramePr>
        <p:xfrm>
          <a:off x="548640" y="1280160"/>
          <a:ext cx="4572000" cy="3337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Shape 5"/>
          <p:cNvSpPr/>
          <p:nvPr/>
        </p:nvSpPr>
        <p:spPr>
          <a:xfrm>
            <a:off x="5440680" y="1234440"/>
            <a:ext cx="3246120" cy="1088136"/>
          </a:xfrm>
          <a:prstGeom prst="roundRect">
            <a:avLst>
              <a:gd name="adj" fmla="val 8403"/>
            </a:avLst>
          </a:prstGeom>
          <a:solidFill>
            <a:srgbClr val="FFFFFF"/>
          </a:solidFill>
          <a:ln w="9525">
            <a:solidFill>
              <a:srgbClr val="E3E3E3"/>
            </a:solidFill>
            <a:prstDash val="solid"/>
          </a:ln>
          <a:effectLst>
            <a:outerShdw blurRad="76200" dist="1905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5577840" y="1298448"/>
            <a:ext cx="2971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C83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52%</a:t>
            </a:r>
            <a:endParaRPr lang="en-US" sz="2200" dirty="0"/>
          </a:p>
        </p:txBody>
      </p:sp>
      <p:sp>
        <p:nvSpPr>
          <p:cNvPr id="10" name="Text 7"/>
          <p:cNvSpPr txBox="1"/>
          <p:nvPr/>
        </p:nvSpPr>
        <p:spPr>
          <a:xfrm>
            <a:off x="5577840" y="1664208"/>
            <a:ext cx="2971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1F1F"/>
                </a:solidFill>
              </a:rPr>
              <a:t>Of orders are paid by UPI, at a low 1.81% cancel rate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5440680" y="2404872"/>
            <a:ext cx="3246120" cy="1088136"/>
          </a:xfrm>
          <a:prstGeom prst="roundRect">
            <a:avLst>
              <a:gd name="adj" fmla="val 8403"/>
            </a:avLst>
          </a:prstGeom>
          <a:solidFill>
            <a:srgbClr val="FFFFFF"/>
          </a:solidFill>
          <a:ln w="9525">
            <a:solidFill>
              <a:srgbClr val="E3E3E3"/>
            </a:solidFill>
            <a:prstDash val="solid"/>
          </a:ln>
          <a:effectLst>
            <a:outerShdw blurRad="76200" dist="1905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5577840" y="2468880"/>
            <a:ext cx="2971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C83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0.35 pt</a:t>
            </a:r>
            <a:endParaRPr lang="en-US" sz="2200" dirty="0"/>
          </a:p>
        </p:txBody>
      </p:sp>
      <p:sp>
        <p:nvSpPr>
          <p:cNvPr id="13" name="Text 10"/>
          <p:cNvSpPr txBox="1"/>
          <p:nvPr/>
        </p:nvSpPr>
        <p:spPr>
          <a:xfrm>
            <a:off x="5577840" y="2834640"/>
            <a:ext cx="2971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1F1F"/>
                </a:solidFill>
              </a:rPr>
              <a:t>Spread between Net Banking (2.06%) and BNPL (1.71%): low risk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5440680" y="3575304"/>
            <a:ext cx="3246120" cy="1088136"/>
          </a:xfrm>
          <a:prstGeom prst="roundRect">
            <a:avLst>
              <a:gd name="adj" fmla="val 8403"/>
            </a:avLst>
          </a:prstGeom>
          <a:solidFill>
            <a:srgbClr val="FFFFFF"/>
          </a:solidFill>
          <a:ln w="9525">
            <a:solidFill>
              <a:srgbClr val="E3E3E3"/>
            </a:solidFill>
            <a:prstDash val="solid"/>
          </a:ln>
          <a:effectLst>
            <a:outerShdw blurRad="76200" dist="1905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2"/>
          <p:cNvSpPr txBox="1"/>
          <p:nvPr/>
        </p:nvSpPr>
        <p:spPr>
          <a:xfrm>
            <a:off x="5577840" y="3639312"/>
            <a:ext cx="2971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C83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+0.2 pt</a:t>
            </a:r>
            <a:endParaRPr lang="en-US" sz="2200" dirty="0"/>
          </a:p>
        </p:txBody>
      </p:sp>
      <p:sp>
        <p:nvSpPr>
          <p:cNvPr id="16" name="Text 13"/>
          <p:cNvSpPr txBox="1"/>
          <p:nvPr/>
        </p:nvSpPr>
        <p:spPr>
          <a:xfrm>
            <a:off x="5577840" y="4005072"/>
            <a:ext cx="2971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1F1F"/>
                </a:solidFill>
              </a:rPr>
              <a:t>Web cancels more than iOS (2.02% vs 1.81%) on 8% of orders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822960" cy="310896"/>
          </a:xfrm>
          <a:prstGeom prst="roundRect">
            <a:avLst>
              <a:gd name="adj" fmla="val 50000"/>
            </a:avLst>
          </a:prstGeom>
          <a:solidFill>
            <a:srgbClr val="F8CB46"/>
          </a:solidFill>
          <a:ln w="12700">
            <a:solidFill>
              <a:srgbClr val="F8CB4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20040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1F1F"/>
                </a:solidFill>
              </a:rPr>
              <a:t>Q10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417320" y="2743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1F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Are small baskets losing money?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6B6B"/>
                </a:solidFill>
              </a:rPr>
              <a:t>Compare delivery fees and failures across basket sizes.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4754880" cy="3429000"/>
          </a:xfrm>
          <a:prstGeom prst="roundRect">
            <a:avLst>
              <a:gd name="adj" fmla="val 3200"/>
            </a:avLst>
          </a:prstGeom>
          <a:solidFill>
            <a:srgbClr val="F3F3F3"/>
          </a:solidFill>
          <a:ln w="12700">
            <a:solidFill>
              <a:srgbClr val="F3F3F3"/>
            </a:solidFill>
            <a:prstDash val="solid"/>
          </a:ln>
        </p:spPr>
      </p:sp>
      <p:graphicFrame>
        <p:nvGraphicFramePr>
          <p:cNvPr id="7" name="Chart 0"/>
          <p:cNvGraphicFramePr/>
          <p:nvPr/>
        </p:nvGraphicFramePr>
        <p:xfrm>
          <a:off x="548640" y="1280160"/>
          <a:ext cx="4572000" cy="3337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Shape 5"/>
          <p:cNvSpPr/>
          <p:nvPr/>
        </p:nvSpPr>
        <p:spPr>
          <a:xfrm>
            <a:off x="5440680" y="1234440"/>
            <a:ext cx="3246120" cy="1088136"/>
          </a:xfrm>
          <a:prstGeom prst="roundRect">
            <a:avLst>
              <a:gd name="adj" fmla="val 8403"/>
            </a:avLst>
          </a:prstGeom>
          <a:solidFill>
            <a:srgbClr val="FFFFFF"/>
          </a:solidFill>
          <a:ln w="9525">
            <a:solidFill>
              <a:srgbClr val="E3E3E3"/>
            </a:solidFill>
            <a:prstDash val="solid"/>
          </a:ln>
          <a:effectLst>
            <a:outerShdw blurRad="76200" dist="1905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5577840" y="1298448"/>
            <a:ext cx="2971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C83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43.6%</a:t>
            </a:r>
            <a:endParaRPr lang="en-US" sz="2200" dirty="0"/>
          </a:p>
        </p:txBody>
      </p:sp>
      <p:sp>
        <p:nvSpPr>
          <p:cNvPr id="10" name="Text 7"/>
          <p:cNvSpPr txBox="1"/>
          <p:nvPr/>
        </p:nvSpPr>
        <p:spPr>
          <a:xfrm>
            <a:off x="5577840" y="1664208"/>
            <a:ext cx="2971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1F1F"/>
                </a:solidFill>
              </a:rPr>
              <a:t>Delivery fee equals nearly half the basket value on orders under ₹100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5440680" y="2404872"/>
            <a:ext cx="3246120" cy="1088136"/>
          </a:xfrm>
          <a:prstGeom prst="roundRect">
            <a:avLst>
              <a:gd name="adj" fmla="val 8403"/>
            </a:avLst>
          </a:prstGeom>
          <a:solidFill>
            <a:srgbClr val="FFFFFF"/>
          </a:solidFill>
          <a:ln w="9525">
            <a:solidFill>
              <a:srgbClr val="E3E3E3"/>
            </a:solidFill>
            <a:prstDash val="solid"/>
          </a:ln>
          <a:effectLst>
            <a:outerShdw blurRad="76200" dist="1905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5577840" y="2468880"/>
            <a:ext cx="2971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C83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12%</a:t>
            </a:r>
            <a:endParaRPr lang="en-US" sz="2200" dirty="0"/>
          </a:p>
        </p:txBody>
      </p:sp>
      <p:sp>
        <p:nvSpPr>
          <p:cNvPr id="13" name="Text 10"/>
          <p:cNvSpPr txBox="1"/>
          <p:nvPr/>
        </p:nvSpPr>
        <p:spPr>
          <a:xfrm>
            <a:off x="5577840" y="2834640"/>
            <a:ext cx="2971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1F1F"/>
                </a:solidFill>
              </a:rPr>
              <a:t>Of orders are under ₹200, with higher fail rates (5.0 to 5.2% vs 4.4%)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5440680" y="3575304"/>
            <a:ext cx="3246120" cy="1088136"/>
          </a:xfrm>
          <a:prstGeom prst="roundRect">
            <a:avLst>
              <a:gd name="adj" fmla="val 8403"/>
            </a:avLst>
          </a:prstGeom>
          <a:solidFill>
            <a:srgbClr val="FFFFFF"/>
          </a:solidFill>
          <a:ln w="9525">
            <a:solidFill>
              <a:srgbClr val="E3E3E3"/>
            </a:solidFill>
            <a:prstDash val="solid"/>
          </a:ln>
          <a:effectLst>
            <a:outerShdw blurRad="76200" dist="1905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2"/>
          <p:cNvSpPr txBox="1"/>
          <p:nvPr/>
        </p:nvSpPr>
        <p:spPr>
          <a:xfrm>
            <a:off x="5577840" y="3639312"/>
            <a:ext cx="2971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C83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74%</a:t>
            </a:r>
            <a:endParaRPr lang="en-US" sz="2200" dirty="0"/>
          </a:p>
        </p:txBody>
      </p:sp>
      <p:sp>
        <p:nvSpPr>
          <p:cNvPr id="16" name="Text 13"/>
          <p:cNvSpPr txBox="1"/>
          <p:nvPr/>
        </p:nvSpPr>
        <p:spPr>
          <a:xfrm>
            <a:off x="5577840" y="4005072"/>
            <a:ext cx="2971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1F1F"/>
                </a:solidFill>
              </a:rPr>
              <a:t>Of orders pass ₹400 and ship free; the ₹200 to 399 band is the nudge target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1F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Recommendations to build business impact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2651760" cy="1737360"/>
          </a:xfrm>
          <a:prstGeom prst="roundRect">
            <a:avLst>
              <a:gd name="adj" fmla="val 6316"/>
            </a:avLst>
          </a:prstGeom>
          <a:solidFill>
            <a:srgbClr val="F3F3F3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" y="1143000"/>
            <a:ext cx="384048" cy="384048"/>
          </a:xfrm>
          <a:prstGeom prst="ellipse">
            <a:avLst/>
          </a:prstGeom>
          <a:solidFill>
            <a:srgbClr val="0C831F"/>
          </a:solidFill>
          <a:ln w="12700">
            <a:solidFill>
              <a:srgbClr val="0C831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143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111556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1F1F"/>
                </a:solidFill>
              </a:rPr>
              <a:t>Fix returns at the source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1664208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1F1F"/>
                </a:solidFill>
              </a:rPr>
              <a:t>Audit packing and supplier quality; log reasons for partial deliveries (₹5.2 Cr each).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246120" y="1005840"/>
            <a:ext cx="2651760" cy="1737360"/>
          </a:xfrm>
          <a:prstGeom prst="roundRect">
            <a:avLst>
              <a:gd name="adj" fmla="val 6316"/>
            </a:avLst>
          </a:prstGeom>
          <a:solidFill>
            <a:srgbClr val="F3F3F3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383280" y="1143000"/>
            <a:ext cx="384048" cy="384048"/>
          </a:xfrm>
          <a:prstGeom prst="ellipse">
            <a:avLst/>
          </a:prstGeom>
          <a:solidFill>
            <a:srgbClr val="0C831F"/>
          </a:solidFill>
          <a:ln w="12700">
            <a:solidFill>
              <a:srgbClr val="0C831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383280" y="1143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886200" y="111556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1F1F"/>
                </a:solidFill>
              </a:rPr>
              <a:t>Redesign loyalty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3383280" y="1664208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1F1F"/>
                </a:solidFill>
              </a:rPr>
              <a:t>Tie Platinum cashback (7.4% of revenue) to order frequency, not tier alone.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035040" y="1005840"/>
            <a:ext cx="2651760" cy="1737360"/>
          </a:xfrm>
          <a:prstGeom prst="roundRect">
            <a:avLst>
              <a:gd name="adj" fmla="val 6316"/>
            </a:avLst>
          </a:prstGeom>
          <a:solidFill>
            <a:srgbClr val="F3F3F3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172200" y="1143000"/>
            <a:ext cx="384048" cy="384048"/>
          </a:xfrm>
          <a:prstGeom prst="ellipse">
            <a:avLst/>
          </a:prstGeom>
          <a:solidFill>
            <a:srgbClr val="0C831F"/>
          </a:solidFill>
          <a:ln w="12700">
            <a:solidFill>
              <a:srgbClr val="0C831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172200" y="1143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675120" y="111556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1F1F"/>
                </a:solidFill>
              </a:rPr>
              <a:t>Rebalance promos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172200" y="1664208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1F1F"/>
                </a:solidFill>
              </a:rPr>
              <a:t>Trim SAVE20 and FESTIVE25, scale UPIOFF (7.8% cost), retarget NEWUSER.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57200" y="2880360"/>
            <a:ext cx="2651760" cy="1737360"/>
          </a:xfrm>
          <a:prstGeom prst="roundRect">
            <a:avLst>
              <a:gd name="adj" fmla="val 6316"/>
            </a:avLst>
          </a:prstGeom>
          <a:solidFill>
            <a:srgbClr val="F3F3F3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94360" y="3017520"/>
            <a:ext cx="384048" cy="384048"/>
          </a:xfrm>
          <a:prstGeom prst="ellipse">
            <a:avLst/>
          </a:prstGeom>
          <a:solidFill>
            <a:srgbClr val="0C831F"/>
          </a:solidFill>
          <a:ln w="12700">
            <a:solidFill>
              <a:srgbClr val="0C831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94360" y="3017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1097280" y="299008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1F1F"/>
                </a:solidFill>
              </a:rPr>
              <a:t>Win the second order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594360" y="3538728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1F1F"/>
                </a:solidFill>
              </a:rPr>
              <a:t>Send day 7 to 14 nudges; 85% of new customers never return in 30 days.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3246120" y="2880360"/>
            <a:ext cx="2651760" cy="1737360"/>
          </a:xfrm>
          <a:prstGeom prst="roundRect">
            <a:avLst>
              <a:gd name="adj" fmla="val 6316"/>
            </a:avLst>
          </a:prstGeom>
          <a:solidFill>
            <a:srgbClr val="F3F3F3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383280" y="3017520"/>
            <a:ext cx="384048" cy="384048"/>
          </a:xfrm>
          <a:prstGeom prst="ellipse">
            <a:avLst/>
          </a:prstGeom>
          <a:solidFill>
            <a:srgbClr val="0C831F"/>
          </a:solidFill>
          <a:ln w="12700">
            <a:solidFill>
              <a:srgbClr val="0C831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383280" y="3017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3886200" y="299008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1F1F"/>
                </a:solidFill>
              </a:rPr>
              <a:t>Expand tier-2 cities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3383280" y="3538728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1F1F"/>
                </a:solidFill>
              </a:rPr>
              <a:t>Higher order value (₹1,200+), faster delivery (15 min) and room to grow.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035040" y="2880360"/>
            <a:ext cx="2651760" cy="1737360"/>
          </a:xfrm>
          <a:prstGeom prst="roundRect">
            <a:avLst>
              <a:gd name="adj" fmla="val 6316"/>
            </a:avLst>
          </a:prstGeom>
          <a:solidFill>
            <a:srgbClr val="F3F3F3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172200" y="3017520"/>
            <a:ext cx="384048" cy="384048"/>
          </a:xfrm>
          <a:prstGeom prst="ellipse">
            <a:avLst/>
          </a:prstGeom>
          <a:solidFill>
            <a:srgbClr val="0C831F"/>
          </a:solidFill>
          <a:ln w="12700">
            <a:solidFill>
              <a:srgbClr val="0C831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172200" y="3017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6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6675120" y="299008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1F1F"/>
                </a:solidFill>
              </a:rPr>
              <a:t>Nudge carts to ₹400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6172200" y="3538728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1F1F"/>
                </a:solidFill>
              </a:rPr>
              <a:t>Show 'add ₹X for free delivery' on ₹200 to 399 carts (14% of orders).</a:t>
            </a:r>
            <a:endParaRPr lang="en-US" sz="1400" dirty="0"/>
          </a:p>
        </p:txBody>
      </p:sp>
      <p:sp>
        <p:nvSpPr>
          <p:cNvPr id="3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CB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49440" y="-1188720"/>
            <a:ext cx="3474720" cy="3474720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457200"/>
            <a:ext cx="2011680" cy="777240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Blinkit wordmark"/>
          <p:cNvSpPr txBox="1"/>
          <p:nvPr/>
        </p:nvSpPr>
        <p:spPr>
          <a:xfrm>
            <a:off x="457200" y="45720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blink</a:t>
            </a:r>
            <a:r>
              <a:rPr lang="en-US" sz="3200" b="1" dirty="0">
                <a:solidFill>
                  <a:srgbClr val="0C8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257918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1F1F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5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977081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F1F1F"/>
                </a:solidFill>
              </a:rPr>
              <a:t>Let's connect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2427484"/>
            <a:ext cx="5669280" cy="54864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84474" y="2399064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C831F"/>
                </a:solidFill>
              </a:rPr>
              <a:t>LinkedIn</a:t>
            </a:r>
            <a:endParaRPr lang="en-US" sz="1600" dirty="0"/>
          </a:p>
        </p:txBody>
      </p:sp>
      <p:sp>
        <p:nvSpPr>
          <p:cNvPr id="9" name="Text 7">
            <a:hlinkClick r:id="rId3"/>
          </p:cNvPr>
          <p:cNvSpPr txBox="1"/>
          <p:nvPr/>
        </p:nvSpPr>
        <p:spPr>
          <a:xfrm>
            <a:off x="1582901" y="241389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u="sng" dirty="0">
                <a:solidFill>
                  <a:srgbClr val="1F1F1F"/>
                </a:solidFill>
              </a:rPr>
              <a:t>https://www.linkedin.com/in/rohit-sul-780265283/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3062620"/>
            <a:ext cx="5669280" cy="54864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080" y="3081772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C831F"/>
                </a:solidFill>
              </a:rPr>
              <a:t>GitHub</a:t>
            </a:r>
            <a:endParaRPr lang="en-US" sz="1600" dirty="0"/>
          </a:p>
        </p:txBody>
      </p:sp>
      <p:sp>
        <p:nvSpPr>
          <p:cNvPr id="12" name="Text 10">
            <a:hlinkClick r:id="rId4"/>
          </p:cNvPr>
          <p:cNvSpPr txBox="1"/>
          <p:nvPr/>
        </p:nvSpPr>
        <p:spPr>
          <a:xfrm>
            <a:off x="1582901" y="3073744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u="sng" dirty="0">
                <a:solidFill>
                  <a:srgbClr val="1F1F1F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https://github.com/your-username</a:t>
            </a:r>
            <a:endParaRPr lang="en-US" sz="1400" dirty="0"/>
          </a:p>
        </p:txBody>
      </p:sp>
      <p:sp>
        <p:nvSpPr>
          <p:cNvPr id="13" name="Shape 5">
            <a:extLst>
              <a:ext uri="{FF2B5EF4-FFF2-40B4-BE49-F238E27FC236}">
                <a16:creationId xmlns:a16="http://schemas.microsoft.com/office/drawing/2014/main" id="{FA8F325C-F7FB-E8E5-B5BA-332D21B15786}"/>
              </a:ext>
            </a:extLst>
          </p:cNvPr>
          <p:cNvSpPr/>
          <p:nvPr/>
        </p:nvSpPr>
        <p:spPr>
          <a:xfrm>
            <a:off x="457200" y="3697756"/>
            <a:ext cx="5669280" cy="54864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0">
            <a:hlinkClick r:id="rId4"/>
            <a:extLst>
              <a:ext uri="{FF2B5EF4-FFF2-40B4-BE49-F238E27FC236}">
                <a16:creationId xmlns:a16="http://schemas.microsoft.com/office/drawing/2014/main" id="{FF2A74CA-E628-06B0-139A-9A476C4DDE1E}"/>
              </a:ext>
            </a:extLst>
          </p:cNvPr>
          <p:cNvSpPr txBox="1"/>
          <p:nvPr/>
        </p:nvSpPr>
        <p:spPr>
          <a:xfrm>
            <a:off x="1681754" y="3724736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u="sng" dirty="0">
                <a:solidFill>
                  <a:srgbClr val="1F1F1F"/>
                </a:solidFill>
              </a:rPr>
              <a:t>https://drive.google.com/drive/folders/1nAAhdfyb5DqZUfupO-aweXxZayBFbijz</a:t>
            </a:r>
            <a:endParaRPr lang="en-US" sz="1400" dirty="0"/>
          </a:p>
        </p:txBody>
      </p:sp>
      <p:sp>
        <p:nvSpPr>
          <p:cNvPr id="16" name="Text 9">
            <a:extLst>
              <a:ext uri="{FF2B5EF4-FFF2-40B4-BE49-F238E27FC236}">
                <a16:creationId xmlns:a16="http://schemas.microsoft.com/office/drawing/2014/main" id="{EFAA430E-4910-97FC-CD2E-BE555F71EB96}"/>
              </a:ext>
            </a:extLst>
          </p:cNvPr>
          <p:cNvSpPr txBox="1"/>
          <p:nvPr/>
        </p:nvSpPr>
        <p:spPr>
          <a:xfrm>
            <a:off x="640080" y="3683955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C831F"/>
                </a:solidFill>
              </a:rPr>
              <a:t>Datasets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985</Words>
  <Application>Microsoft Office PowerPoint</Application>
  <PresentationFormat>On-screen Show (16:9)</PresentationFormat>
  <Paragraphs>156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Blinkit Order Analytics</dc:title>
  <dc:subject>PptxGenJS Presentation</dc:subject>
  <dc:creator>PptxGenJS</dc:creator>
  <cp:lastModifiedBy>rohit sul</cp:lastModifiedBy>
  <cp:revision>3</cp:revision>
  <dcterms:created xsi:type="dcterms:W3CDTF">2026-10-04T04:04:12Z</dcterms:created>
  <dcterms:modified xsi:type="dcterms:W3CDTF">2026-10-04T04:53:04Z</dcterms:modified>
</cp:coreProperties>
</file>